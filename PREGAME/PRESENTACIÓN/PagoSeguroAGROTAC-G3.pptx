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1">
                <a:solidFill>
                  <a:srgbClr val="3A454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3A454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9FF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3A454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1">
                <a:solidFill>
                  <a:srgbClr val="3A454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9FFF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504" y="574624"/>
            <a:ext cx="132073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1">
                <a:solidFill>
                  <a:srgbClr val="3A4540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5563" y="3844594"/>
            <a:ext cx="6356984" cy="1859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maGaf/27835_G3_ADS/blob/main/PREGAME/PRESENTACI&#211;N/Patrones%20de%20Dise&#241;o.pdf" TargetMode="External"/><Relationship Id="rId3" Type="http://schemas.openxmlformats.org/officeDocument/2006/relationships/hyperlink" Target="https://espe-team-qev8blxt.atlassian.net/wiki/spaces/G/pages/4554753/El+Granito+de+AGROTAC-Sprint+1" TargetMode="External"/><Relationship Id="rId7" Type="http://schemas.openxmlformats.org/officeDocument/2006/relationships/hyperlink" Target="https://github.com/ImaGaf/27835_G3_ADS.git" TargetMode="External"/><Relationship Id="rId2" Type="http://schemas.openxmlformats.org/officeDocument/2006/relationships/hyperlink" Target="https://espe-team-qev8blxt.atlassian.net/jira/software/projects/G3/boards/3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ImaGaf/27835_G3_ADS/tree/main/PREGAME/5.%20PERFIL%20PROYECTO" TargetMode="External"/><Relationship Id="rId5" Type="http://schemas.openxmlformats.org/officeDocument/2006/relationships/hyperlink" Target="https://github.com/ImaGaf/27835_G3_ADS/tree/main/PREGAME/1.%20ELICITACI%C3%93N/1.3%20HISTORIAS%20DE%20USUARIO" TargetMode="External"/><Relationship Id="rId4" Type="http://schemas.openxmlformats.org/officeDocument/2006/relationships/hyperlink" Target="https://github.com/ImaGaf/27835_G3_ADS/blob/main/PREGAME/1.%20ELICITACI%C3%93N/1.6%20BACKLOG/G3_Backlog_V1.xlsx" TargetMode="External"/><Relationship Id="rId9" Type="http://schemas.openxmlformats.org/officeDocument/2006/relationships/hyperlink" Target="https://github.com/ImaGaf/27835_G3_ADS/blob/main/PREGAME/PRESENTACI&#211;N/Arquitectura%20(1).pd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120011"/>
            <a:ext cx="7352030" cy="212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10" dirty="0"/>
              <a:t>PagoSrguroAGROTAC:</a:t>
            </a:r>
            <a:endParaRPr sz="4450" dirty="0"/>
          </a:p>
          <a:p>
            <a:pPr marL="12700" marR="5080">
              <a:lnSpc>
                <a:spcPct val="104800"/>
              </a:lnSpc>
              <a:spcBef>
                <a:spcPts val="10"/>
              </a:spcBef>
            </a:pPr>
            <a:r>
              <a:rPr sz="4450" spc="-90" dirty="0"/>
              <a:t>Transfiormando</a:t>
            </a:r>
            <a:r>
              <a:rPr sz="4450" spc="-204" dirty="0"/>
              <a:t> </a:t>
            </a:r>
            <a:r>
              <a:rPr sz="4450" spc="-85" dirty="0"/>
              <a:t>la</a:t>
            </a:r>
            <a:r>
              <a:rPr sz="4450" spc="-155" dirty="0"/>
              <a:t> </a:t>
            </a:r>
            <a:r>
              <a:rPr sz="4450" spc="-55" dirty="0"/>
              <a:t>Gestión</a:t>
            </a:r>
            <a:r>
              <a:rPr sz="4450" spc="-195" dirty="0"/>
              <a:t> </a:t>
            </a:r>
            <a:r>
              <a:rPr sz="4450" spc="65" dirty="0"/>
              <a:t>de </a:t>
            </a:r>
            <a:r>
              <a:rPr sz="4450" spc="-45" dirty="0"/>
              <a:t>Pagos</a:t>
            </a:r>
            <a:r>
              <a:rPr sz="4450" spc="-235" dirty="0"/>
              <a:t> </a:t>
            </a:r>
            <a:r>
              <a:rPr sz="4450" spc="-10" dirty="0"/>
              <a:t>Agrícolas</a:t>
            </a:r>
            <a:endParaRPr sz="4450" dirty="0"/>
          </a:p>
        </p:txBody>
      </p:sp>
      <p:sp>
        <p:nvSpPr>
          <p:cNvPr id="4" name="object 4"/>
          <p:cNvSpPr txBox="1"/>
          <p:nvPr/>
        </p:nvSpPr>
        <p:spPr>
          <a:xfrm>
            <a:off x="781304" y="5278806"/>
            <a:ext cx="7385684" cy="76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100"/>
              </a:spcBef>
            </a:pP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innovador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automatizar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optimizar</a:t>
            </a:r>
            <a:r>
              <a:rPr sz="175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75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administración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comprobantes</a:t>
            </a:r>
            <a:r>
              <a:rPr sz="17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créditos</a:t>
            </a:r>
            <a:r>
              <a:rPr sz="175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7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empresas</a:t>
            </a:r>
            <a:r>
              <a:rPr sz="175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agropecuarias.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1B336-9BD3-0D41-D9E2-C1EFF3FE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05" y="381000"/>
            <a:ext cx="13207390" cy="697230"/>
          </a:xfrm>
        </p:spPr>
        <p:txBody>
          <a:bodyPr/>
          <a:lstStyle/>
          <a:p>
            <a:r>
              <a:rPr lang="es-EC" dirty="0"/>
              <a:t>LINKS</a:t>
            </a:r>
            <a:endParaRPr lang="en-US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E2141D8E-3A63-D488-7DB6-9BE2243BD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735111"/>
              </p:ext>
            </p:extLst>
          </p:nvPr>
        </p:nvGraphicFramePr>
        <p:xfrm>
          <a:off x="920826" y="1078230"/>
          <a:ext cx="12788747" cy="674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53">
                  <a:extLst>
                    <a:ext uri="{9D8B030D-6E8A-4147-A177-3AD203B41FA5}">
                      <a16:colId xmlns:a16="http://schemas.microsoft.com/office/drawing/2014/main" val="1445108338"/>
                    </a:ext>
                  </a:extLst>
                </a:gridCol>
                <a:gridCol w="8356294">
                  <a:extLst>
                    <a:ext uri="{9D8B030D-6E8A-4147-A177-3AD203B41FA5}">
                      <a16:colId xmlns:a16="http://schemas.microsoft.com/office/drawing/2014/main" val="3795779347"/>
                    </a:ext>
                  </a:extLst>
                </a:gridCol>
              </a:tblGrid>
              <a:tr h="538913">
                <a:tc>
                  <a:txBody>
                    <a:bodyPr/>
                    <a:lstStyle/>
                    <a:p>
                      <a:r>
                        <a:rPr lang="es-EC" dirty="0"/>
                        <a:t>COMPONENTE A EVALUAR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/>
                        <a:t>URL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554508"/>
                  </a:ext>
                </a:extLst>
              </a:tr>
              <a:tr h="675652">
                <a:tc>
                  <a:txBody>
                    <a:bodyPr/>
                    <a:lstStyle/>
                    <a:p>
                      <a:r>
                        <a:rPr lang="es-EC" dirty="0"/>
                        <a:t>JIRA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2"/>
                        </a:rPr>
                        <a:t>https://espe-team-qev8blxt.atlassian.net/jira/software/projects/G3/boards/35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669615"/>
                  </a:ext>
                </a:extLst>
              </a:tr>
              <a:tr h="1031429">
                <a:tc>
                  <a:txBody>
                    <a:bodyPr/>
                    <a:lstStyle/>
                    <a:p>
                      <a:r>
                        <a:rPr lang="es-EC" dirty="0"/>
                        <a:t>CONFLUENCE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https://espe-team-qev8blxt.atlassian.net/wiki/spaces/G/pages/4554753/El+Granito+de+AGROTAC-Sprint+1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090016"/>
                  </a:ext>
                </a:extLst>
              </a:tr>
              <a:tr h="593383">
                <a:tc>
                  <a:txBody>
                    <a:bodyPr/>
                    <a:lstStyle/>
                    <a:p>
                      <a:r>
                        <a:rPr lang="es-EC" dirty="0"/>
                        <a:t>BACKLOG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https://github.com/ImaGaf/27835_G3_ADS/blob/main/PREGAME/1.%20ELICITACI%C3%93N/1.6%20BACKLOG/G3_Backlog_V1.xlsx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981185"/>
                  </a:ext>
                </a:extLst>
              </a:tr>
              <a:tr h="793407">
                <a:tc>
                  <a:txBody>
                    <a:bodyPr/>
                    <a:lstStyle/>
                    <a:p>
                      <a:r>
                        <a:rPr lang="es-EC" dirty="0"/>
                        <a:t>HISTORIAS DE USUARIO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https://github.com/ImaGaf/27835_G3_ADS/tree/main/PREGAME/1.%20ELICITACI%C3%93N/1.3%20HISTORIAS%20DE%20USUARIO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49442"/>
                  </a:ext>
                </a:extLst>
              </a:tr>
              <a:tr h="682969">
                <a:tc>
                  <a:txBody>
                    <a:bodyPr/>
                    <a:lstStyle/>
                    <a:p>
                      <a:r>
                        <a:rPr lang="es-EC" dirty="0"/>
                        <a:t>PERFIL PROYECTO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6"/>
                        </a:rPr>
                        <a:t>https://github.com/ImaGaf/27835_G3_ADS/tree/main/PREGAME/5.%20PERFIL%20PROYECTO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18658"/>
                  </a:ext>
                </a:extLst>
              </a:tr>
              <a:tr h="555385">
                <a:tc>
                  <a:txBody>
                    <a:bodyPr/>
                    <a:lstStyle/>
                    <a:p>
                      <a:r>
                        <a:rPr lang="es-EC" dirty="0"/>
                        <a:t>REPOSITORIO GITHUB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7"/>
                        </a:rPr>
                        <a:t>https://github.com/ImaGaf/27835_G3_ADS.git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70043"/>
                  </a:ext>
                </a:extLst>
              </a:tr>
              <a:tr h="555385">
                <a:tc>
                  <a:txBody>
                    <a:bodyPr/>
                    <a:lstStyle/>
                    <a:p>
                      <a:r>
                        <a:rPr lang="es-EC" dirty="0"/>
                        <a:t>PATRONES DE DISEÑO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8"/>
                        </a:rPr>
                        <a:t>https://github.com/</a:t>
                      </a:r>
                      <a:r>
                        <a:rPr lang="en-US" dirty="0" err="1">
                          <a:hlinkClick r:id="rId8"/>
                        </a:rPr>
                        <a:t>ImaGaf</a:t>
                      </a:r>
                      <a:r>
                        <a:rPr lang="en-US" dirty="0">
                          <a:hlinkClick r:id="rId8"/>
                        </a:rPr>
                        <a:t>/27835_G3_ADS/blob/main/PREGAME/PRESENTACIÓN/Patrones%20de%20Diseño.pdf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206091"/>
                  </a:ext>
                </a:extLst>
              </a:tr>
              <a:tr h="555385">
                <a:tc>
                  <a:txBody>
                    <a:bodyPr/>
                    <a:lstStyle/>
                    <a:p>
                      <a:r>
                        <a:rPr lang="es-EC" dirty="0"/>
                        <a:t>ARQUITECTURA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9"/>
                        </a:rPr>
                        <a:t>https://github.com/</a:t>
                      </a:r>
                      <a:r>
                        <a:rPr lang="en-US" dirty="0" err="1">
                          <a:hlinkClick r:id="rId9"/>
                        </a:rPr>
                        <a:t>ImaGaf</a:t>
                      </a:r>
                      <a:r>
                        <a:rPr lang="en-US" dirty="0">
                          <a:hlinkClick r:id="rId9"/>
                        </a:rPr>
                        <a:t>/27835_G3_ADS/blob/main/PREGAME/PRESENTACIÓN/Arquitectura%20(1).pdf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62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65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3663" y="766724"/>
            <a:ext cx="6410960" cy="13208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4000" dirty="0"/>
              <a:t>El</a:t>
            </a:r>
            <a:r>
              <a:rPr sz="4000" spc="-180" dirty="0"/>
              <a:t> </a:t>
            </a:r>
            <a:r>
              <a:rPr sz="4000" spc="-215" dirty="0"/>
              <a:t>Desafiío </a:t>
            </a:r>
            <a:r>
              <a:rPr sz="4000" spc="-40" dirty="0"/>
              <a:t>Actual:</a:t>
            </a:r>
            <a:r>
              <a:rPr sz="4000" spc="-220" dirty="0"/>
              <a:t> </a:t>
            </a:r>
            <a:r>
              <a:rPr sz="4000" spc="-10" dirty="0"/>
              <a:t>Gestión</a:t>
            </a:r>
            <a:endParaRPr sz="4000"/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4000" spc="-245" dirty="0"/>
              <a:t>Mamuaf</a:t>
            </a:r>
            <a:r>
              <a:rPr sz="4000" spc="-220" dirty="0"/>
              <a:t> </a:t>
            </a:r>
            <a:r>
              <a:rPr sz="4000" spc="-210" dirty="0"/>
              <a:t>y</a:t>
            </a:r>
            <a:r>
              <a:rPr sz="4000" spc="-190" dirty="0"/>
              <a:t> </a:t>
            </a:r>
            <a:r>
              <a:rPr sz="4000" dirty="0"/>
              <a:t>sus</a:t>
            </a:r>
            <a:r>
              <a:rPr sz="4000" spc="-195" dirty="0"/>
              <a:t> </a:t>
            </a:r>
            <a:r>
              <a:rPr sz="4000" spc="-95" dirty="0"/>
              <a:t>Comsrcurmcias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6182740" y="2420492"/>
            <a:ext cx="3784600" cy="2560320"/>
            <a:chOff x="6182740" y="2420492"/>
            <a:chExt cx="3784600" cy="2560320"/>
          </a:xfrm>
        </p:grpSpPr>
        <p:sp>
          <p:nvSpPr>
            <p:cNvPr id="4" name="object 4"/>
            <p:cNvSpPr/>
            <p:nvPr/>
          </p:nvSpPr>
          <p:spPr>
            <a:xfrm>
              <a:off x="6205600" y="2431922"/>
              <a:ext cx="3750310" cy="2537460"/>
            </a:xfrm>
            <a:custGeom>
              <a:avLst/>
              <a:gdLst/>
              <a:ahLst/>
              <a:cxnLst/>
              <a:rect l="l" t="t" r="r" b="b"/>
              <a:pathLst>
                <a:path w="3750309" h="2537460">
                  <a:moveTo>
                    <a:pt x="3640328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427478"/>
                  </a:lnTo>
                  <a:lnTo>
                    <a:pt x="8626" y="2470179"/>
                  </a:lnTo>
                  <a:lnTo>
                    <a:pt x="32146" y="2505059"/>
                  </a:lnTo>
                  <a:lnTo>
                    <a:pt x="67026" y="2528579"/>
                  </a:lnTo>
                  <a:lnTo>
                    <a:pt x="109727" y="2537205"/>
                  </a:lnTo>
                  <a:lnTo>
                    <a:pt x="3640328" y="2537205"/>
                  </a:lnTo>
                  <a:lnTo>
                    <a:pt x="3683029" y="2528579"/>
                  </a:lnTo>
                  <a:lnTo>
                    <a:pt x="3717909" y="2505059"/>
                  </a:lnTo>
                  <a:lnTo>
                    <a:pt x="3741429" y="2470179"/>
                  </a:lnTo>
                  <a:lnTo>
                    <a:pt x="3750055" y="2427478"/>
                  </a:lnTo>
                  <a:lnTo>
                    <a:pt x="3750055" y="109727"/>
                  </a:lnTo>
                  <a:lnTo>
                    <a:pt x="3741429" y="67026"/>
                  </a:lnTo>
                  <a:lnTo>
                    <a:pt x="3717909" y="32146"/>
                  </a:lnTo>
                  <a:lnTo>
                    <a:pt x="3683029" y="8626"/>
                  </a:lnTo>
                  <a:lnTo>
                    <a:pt x="3640328" y="0"/>
                  </a:lnTo>
                  <a:close/>
                </a:path>
              </a:pathLst>
            </a:custGeom>
            <a:solidFill>
              <a:srgbClr val="F9F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05600" y="2431922"/>
              <a:ext cx="3750310" cy="2537460"/>
            </a:xfrm>
            <a:custGeom>
              <a:avLst/>
              <a:gdLst/>
              <a:ahLst/>
              <a:cxnLst/>
              <a:rect l="l" t="t" r="r" b="b"/>
              <a:pathLst>
                <a:path w="3750309" h="253746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3640328" y="0"/>
                  </a:lnTo>
                  <a:lnTo>
                    <a:pt x="3683029" y="8626"/>
                  </a:lnTo>
                  <a:lnTo>
                    <a:pt x="3717909" y="32146"/>
                  </a:lnTo>
                  <a:lnTo>
                    <a:pt x="3741429" y="67026"/>
                  </a:lnTo>
                  <a:lnTo>
                    <a:pt x="3750055" y="109727"/>
                  </a:lnTo>
                  <a:lnTo>
                    <a:pt x="3750055" y="2427478"/>
                  </a:lnTo>
                  <a:lnTo>
                    <a:pt x="3741429" y="2470179"/>
                  </a:lnTo>
                  <a:lnTo>
                    <a:pt x="3717909" y="2505059"/>
                  </a:lnTo>
                  <a:lnTo>
                    <a:pt x="3683029" y="2528579"/>
                  </a:lnTo>
                  <a:lnTo>
                    <a:pt x="3640328" y="2537205"/>
                  </a:lnTo>
                  <a:lnTo>
                    <a:pt x="109727" y="2537205"/>
                  </a:lnTo>
                  <a:lnTo>
                    <a:pt x="67026" y="2528579"/>
                  </a:lnTo>
                  <a:lnTo>
                    <a:pt x="32146" y="2505059"/>
                  </a:lnTo>
                  <a:lnTo>
                    <a:pt x="8626" y="2470179"/>
                  </a:lnTo>
                  <a:lnTo>
                    <a:pt x="0" y="2427478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ED9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82740" y="2431922"/>
              <a:ext cx="91440" cy="2537460"/>
            </a:xfrm>
            <a:custGeom>
              <a:avLst/>
              <a:gdLst/>
              <a:ahLst/>
              <a:cxnLst/>
              <a:rect l="l" t="t" r="r" b="b"/>
              <a:pathLst>
                <a:path w="91439" h="2537460">
                  <a:moveTo>
                    <a:pt x="45720" y="0"/>
                  </a:moveTo>
                  <a:lnTo>
                    <a:pt x="27967" y="3607"/>
                  </a:lnTo>
                  <a:lnTo>
                    <a:pt x="13430" y="13430"/>
                  </a:lnTo>
                  <a:lnTo>
                    <a:pt x="3607" y="27967"/>
                  </a:lnTo>
                  <a:lnTo>
                    <a:pt x="0" y="45719"/>
                  </a:lnTo>
                  <a:lnTo>
                    <a:pt x="0" y="2491486"/>
                  </a:lnTo>
                  <a:lnTo>
                    <a:pt x="3607" y="2509238"/>
                  </a:lnTo>
                  <a:lnTo>
                    <a:pt x="13430" y="2523775"/>
                  </a:lnTo>
                  <a:lnTo>
                    <a:pt x="27967" y="2533598"/>
                  </a:lnTo>
                  <a:lnTo>
                    <a:pt x="45720" y="2537205"/>
                  </a:lnTo>
                  <a:lnTo>
                    <a:pt x="63525" y="2533598"/>
                  </a:lnTo>
                  <a:lnTo>
                    <a:pt x="78057" y="2523775"/>
                  </a:lnTo>
                  <a:lnTo>
                    <a:pt x="87850" y="2509238"/>
                  </a:lnTo>
                  <a:lnTo>
                    <a:pt x="91439" y="2491486"/>
                  </a:lnTo>
                  <a:lnTo>
                    <a:pt x="91439" y="45719"/>
                  </a:lnTo>
                  <a:lnTo>
                    <a:pt x="87850" y="27967"/>
                  </a:lnTo>
                  <a:lnTo>
                    <a:pt x="78057" y="13430"/>
                  </a:lnTo>
                  <a:lnTo>
                    <a:pt x="63525" y="3607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90461" y="2631439"/>
            <a:ext cx="3033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Gestión</a:t>
            </a:r>
            <a:r>
              <a:rPr sz="2000" b="1" i="1" spc="-11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Manual</a:t>
            </a:r>
            <a:r>
              <a:rPr sz="2000" b="1" i="1" spc="-10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Defiiciente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0461" y="3370605"/>
            <a:ext cx="3063875" cy="1348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00"/>
              </a:spcBef>
            </a:pPr>
            <a:r>
              <a:rPr sz="160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envío</a:t>
            </a:r>
            <a:r>
              <a:rPr sz="160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 </a:t>
            </a:r>
            <a:r>
              <a:rPr sz="16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fotografías</a:t>
            </a:r>
            <a:r>
              <a:rPr sz="160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por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WhatsApp</a:t>
            </a:r>
            <a:r>
              <a:rPr sz="16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el 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registro</a:t>
            </a:r>
            <a:r>
              <a:rPr sz="16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6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Excel 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generan</a:t>
            </a:r>
            <a:r>
              <a:rPr sz="16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inconsistencias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y 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errores.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38282" y="2420492"/>
            <a:ext cx="3784600" cy="2560320"/>
            <a:chOff x="10138282" y="2420492"/>
            <a:chExt cx="3784600" cy="2560320"/>
          </a:xfrm>
        </p:grpSpPr>
        <p:sp>
          <p:nvSpPr>
            <p:cNvPr id="10" name="object 10"/>
            <p:cNvSpPr/>
            <p:nvPr/>
          </p:nvSpPr>
          <p:spPr>
            <a:xfrm>
              <a:off x="10161142" y="2431922"/>
              <a:ext cx="3750310" cy="2537460"/>
            </a:xfrm>
            <a:custGeom>
              <a:avLst/>
              <a:gdLst/>
              <a:ahLst/>
              <a:cxnLst/>
              <a:rect l="l" t="t" r="r" b="b"/>
              <a:pathLst>
                <a:path w="3750309" h="2537460">
                  <a:moveTo>
                    <a:pt x="3640328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2427478"/>
                  </a:lnTo>
                  <a:lnTo>
                    <a:pt x="8626" y="2470179"/>
                  </a:lnTo>
                  <a:lnTo>
                    <a:pt x="32146" y="2505059"/>
                  </a:lnTo>
                  <a:lnTo>
                    <a:pt x="67026" y="2528579"/>
                  </a:lnTo>
                  <a:lnTo>
                    <a:pt x="109727" y="2537205"/>
                  </a:lnTo>
                  <a:lnTo>
                    <a:pt x="3640328" y="2537205"/>
                  </a:lnTo>
                  <a:lnTo>
                    <a:pt x="3683029" y="2528579"/>
                  </a:lnTo>
                  <a:lnTo>
                    <a:pt x="3717909" y="2505059"/>
                  </a:lnTo>
                  <a:lnTo>
                    <a:pt x="3741429" y="2470179"/>
                  </a:lnTo>
                  <a:lnTo>
                    <a:pt x="3750055" y="2427478"/>
                  </a:lnTo>
                  <a:lnTo>
                    <a:pt x="3750055" y="109727"/>
                  </a:lnTo>
                  <a:lnTo>
                    <a:pt x="3741429" y="67026"/>
                  </a:lnTo>
                  <a:lnTo>
                    <a:pt x="3717909" y="32146"/>
                  </a:lnTo>
                  <a:lnTo>
                    <a:pt x="3683029" y="8626"/>
                  </a:lnTo>
                  <a:lnTo>
                    <a:pt x="3640328" y="0"/>
                  </a:lnTo>
                  <a:close/>
                </a:path>
              </a:pathLst>
            </a:custGeom>
            <a:solidFill>
              <a:srgbClr val="F9F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61142" y="2431922"/>
              <a:ext cx="3750310" cy="2537460"/>
            </a:xfrm>
            <a:custGeom>
              <a:avLst/>
              <a:gdLst/>
              <a:ahLst/>
              <a:cxnLst/>
              <a:rect l="l" t="t" r="r" b="b"/>
              <a:pathLst>
                <a:path w="3750309" h="2537460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3640328" y="0"/>
                  </a:lnTo>
                  <a:lnTo>
                    <a:pt x="3683029" y="8626"/>
                  </a:lnTo>
                  <a:lnTo>
                    <a:pt x="3717909" y="32146"/>
                  </a:lnTo>
                  <a:lnTo>
                    <a:pt x="3741429" y="67026"/>
                  </a:lnTo>
                  <a:lnTo>
                    <a:pt x="3750055" y="109727"/>
                  </a:lnTo>
                  <a:lnTo>
                    <a:pt x="3750055" y="2427478"/>
                  </a:lnTo>
                  <a:lnTo>
                    <a:pt x="3741429" y="2470179"/>
                  </a:lnTo>
                  <a:lnTo>
                    <a:pt x="3717909" y="2505059"/>
                  </a:lnTo>
                  <a:lnTo>
                    <a:pt x="3683029" y="2528579"/>
                  </a:lnTo>
                  <a:lnTo>
                    <a:pt x="3640328" y="2537205"/>
                  </a:lnTo>
                  <a:lnTo>
                    <a:pt x="109727" y="2537205"/>
                  </a:lnTo>
                  <a:lnTo>
                    <a:pt x="67026" y="2528579"/>
                  </a:lnTo>
                  <a:lnTo>
                    <a:pt x="32146" y="2505059"/>
                  </a:lnTo>
                  <a:lnTo>
                    <a:pt x="8626" y="2470179"/>
                  </a:lnTo>
                  <a:lnTo>
                    <a:pt x="0" y="2427478"/>
                  </a:lnTo>
                  <a:lnTo>
                    <a:pt x="0" y="109727"/>
                  </a:lnTo>
                  <a:close/>
                </a:path>
              </a:pathLst>
            </a:custGeom>
            <a:ln w="22859">
              <a:solidFill>
                <a:srgbClr val="CED9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138282" y="2431922"/>
              <a:ext cx="91440" cy="2537460"/>
            </a:xfrm>
            <a:custGeom>
              <a:avLst/>
              <a:gdLst/>
              <a:ahLst/>
              <a:cxnLst/>
              <a:rect l="l" t="t" r="r" b="b"/>
              <a:pathLst>
                <a:path w="91440" h="2537460">
                  <a:moveTo>
                    <a:pt x="45720" y="0"/>
                  </a:moveTo>
                  <a:lnTo>
                    <a:pt x="27914" y="3607"/>
                  </a:lnTo>
                  <a:lnTo>
                    <a:pt x="13382" y="13430"/>
                  </a:lnTo>
                  <a:lnTo>
                    <a:pt x="3589" y="27967"/>
                  </a:lnTo>
                  <a:lnTo>
                    <a:pt x="0" y="45719"/>
                  </a:lnTo>
                  <a:lnTo>
                    <a:pt x="0" y="2491486"/>
                  </a:lnTo>
                  <a:lnTo>
                    <a:pt x="3589" y="2509238"/>
                  </a:lnTo>
                  <a:lnTo>
                    <a:pt x="13382" y="2523775"/>
                  </a:lnTo>
                  <a:lnTo>
                    <a:pt x="27914" y="2533598"/>
                  </a:lnTo>
                  <a:lnTo>
                    <a:pt x="45720" y="2537205"/>
                  </a:lnTo>
                  <a:lnTo>
                    <a:pt x="63525" y="2533598"/>
                  </a:lnTo>
                  <a:lnTo>
                    <a:pt x="78057" y="2523775"/>
                  </a:lnTo>
                  <a:lnTo>
                    <a:pt x="87850" y="2509238"/>
                  </a:lnTo>
                  <a:lnTo>
                    <a:pt x="91440" y="2491486"/>
                  </a:lnTo>
                  <a:lnTo>
                    <a:pt x="91440" y="45719"/>
                  </a:lnTo>
                  <a:lnTo>
                    <a:pt x="87850" y="27967"/>
                  </a:lnTo>
                  <a:lnTo>
                    <a:pt x="78057" y="13430"/>
                  </a:lnTo>
                  <a:lnTo>
                    <a:pt x="63525" y="3607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446511" y="2631439"/>
            <a:ext cx="3121025" cy="1766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405348"/>
                </a:solidFill>
                <a:latin typeface="Book Antiqua"/>
                <a:cs typeface="Book Antiqua"/>
              </a:rPr>
              <a:t>Problemas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Críticos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16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Duplicaciones,</a:t>
            </a:r>
            <a:r>
              <a:rPr sz="1600" spc="1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pérdida</a:t>
            </a:r>
            <a:r>
              <a:rPr sz="1600" spc="19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información,</a:t>
            </a:r>
            <a:r>
              <a:rPr sz="1600" spc="1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errores</a:t>
            </a:r>
            <a:r>
              <a:rPr sz="16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humanos</a:t>
            </a:r>
            <a:r>
              <a:rPr sz="16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falta</a:t>
            </a:r>
            <a:r>
              <a:rPr sz="16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trazabilidad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6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los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procesos</a:t>
            </a:r>
            <a:r>
              <a:rPr sz="1600" spc="1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2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pago.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2740" y="5163184"/>
            <a:ext cx="3784600" cy="2239010"/>
            <a:chOff x="6182740" y="5163184"/>
            <a:chExt cx="3784600" cy="2239010"/>
          </a:xfrm>
        </p:grpSpPr>
        <p:sp>
          <p:nvSpPr>
            <p:cNvPr id="15" name="object 15"/>
            <p:cNvSpPr/>
            <p:nvPr/>
          </p:nvSpPr>
          <p:spPr>
            <a:xfrm>
              <a:off x="6205600" y="5174614"/>
              <a:ext cx="3750310" cy="2216150"/>
            </a:xfrm>
            <a:custGeom>
              <a:avLst/>
              <a:gdLst/>
              <a:ahLst/>
              <a:cxnLst/>
              <a:rect l="l" t="t" r="r" b="b"/>
              <a:pathLst>
                <a:path w="3750309" h="2216150">
                  <a:moveTo>
                    <a:pt x="3640328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2106218"/>
                  </a:lnTo>
                  <a:lnTo>
                    <a:pt x="8626" y="2148931"/>
                  </a:lnTo>
                  <a:lnTo>
                    <a:pt x="32146" y="2183809"/>
                  </a:lnTo>
                  <a:lnTo>
                    <a:pt x="67026" y="2207324"/>
                  </a:lnTo>
                  <a:lnTo>
                    <a:pt x="109727" y="2215946"/>
                  </a:lnTo>
                  <a:lnTo>
                    <a:pt x="3640328" y="2215946"/>
                  </a:lnTo>
                  <a:lnTo>
                    <a:pt x="3683029" y="2207324"/>
                  </a:lnTo>
                  <a:lnTo>
                    <a:pt x="3717909" y="2183809"/>
                  </a:lnTo>
                  <a:lnTo>
                    <a:pt x="3741429" y="2148931"/>
                  </a:lnTo>
                  <a:lnTo>
                    <a:pt x="3750055" y="2106218"/>
                  </a:lnTo>
                  <a:lnTo>
                    <a:pt x="3750055" y="109728"/>
                  </a:lnTo>
                  <a:lnTo>
                    <a:pt x="3741429" y="67026"/>
                  </a:lnTo>
                  <a:lnTo>
                    <a:pt x="3717909" y="32146"/>
                  </a:lnTo>
                  <a:lnTo>
                    <a:pt x="3683029" y="8626"/>
                  </a:lnTo>
                  <a:lnTo>
                    <a:pt x="3640328" y="0"/>
                  </a:lnTo>
                  <a:close/>
                </a:path>
              </a:pathLst>
            </a:custGeom>
            <a:solidFill>
              <a:srgbClr val="F9F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05600" y="5174614"/>
              <a:ext cx="3750310" cy="2216150"/>
            </a:xfrm>
            <a:custGeom>
              <a:avLst/>
              <a:gdLst/>
              <a:ahLst/>
              <a:cxnLst/>
              <a:rect l="l" t="t" r="r" b="b"/>
              <a:pathLst>
                <a:path w="3750309" h="2216150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3640328" y="0"/>
                  </a:lnTo>
                  <a:lnTo>
                    <a:pt x="3683029" y="8626"/>
                  </a:lnTo>
                  <a:lnTo>
                    <a:pt x="3717909" y="32146"/>
                  </a:lnTo>
                  <a:lnTo>
                    <a:pt x="3741429" y="67026"/>
                  </a:lnTo>
                  <a:lnTo>
                    <a:pt x="3750055" y="109728"/>
                  </a:lnTo>
                  <a:lnTo>
                    <a:pt x="3750055" y="2106218"/>
                  </a:lnTo>
                  <a:lnTo>
                    <a:pt x="3741429" y="2148931"/>
                  </a:lnTo>
                  <a:lnTo>
                    <a:pt x="3717909" y="2183809"/>
                  </a:lnTo>
                  <a:lnTo>
                    <a:pt x="3683029" y="2207324"/>
                  </a:lnTo>
                  <a:lnTo>
                    <a:pt x="3640328" y="2215946"/>
                  </a:lnTo>
                  <a:lnTo>
                    <a:pt x="109727" y="2215946"/>
                  </a:lnTo>
                  <a:lnTo>
                    <a:pt x="67026" y="2207324"/>
                  </a:lnTo>
                  <a:lnTo>
                    <a:pt x="32146" y="2183809"/>
                  </a:lnTo>
                  <a:lnTo>
                    <a:pt x="8626" y="2148931"/>
                  </a:lnTo>
                  <a:lnTo>
                    <a:pt x="0" y="2106218"/>
                  </a:lnTo>
                  <a:lnTo>
                    <a:pt x="0" y="109728"/>
                  </a:lnTo>
                  <a:close/>
                </a:path>
              </a:pathLst>
            </a:custGeom>
            <a:ln w="22860">
              <a:solidFill>
                <a:srgbClr val="CED9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2740" y="5174614"/>
              <a:ext cx="91440" cy="2216150"/>
            </a:xfrm>
            <a:custGeom>
              <a:avLst/>
              <a:gdLst/>
              <a:ahLst/>
              <a:cxnLst/>
              <a:rect l="l" t="t" r="r" b="b"/>
              <a:pathLst>
                <a:path w="91439" h="2216150">
                  <a:moveTo>
                    <a:pt x="45720" y="0"/>
                  </a:moveTo>
                  <a:lnTo>
                    <a:pt x="27967" y="3589"/>
                  </a:lnTo>
                  <a:lnTo>
                    <a:pt x="13430" y="13382"/>
                  </a:lnTo>
                  <a:lnTo>
                    <a:pt x="3607" y="27914"/>
                  </a:lnTo>
                  <a:lnTo>
                    <a:pt x="0" y="45720"/>
                  </a:lnTo>
                  <a:lnTo>
                    <a:pt x="0" y="2170226"/>
                  </a:lnTo>
                  <a:lnTo>
                    <a:pt x="3611" y="2188027"/>
                  </a:lnTo>
                  <a:lnTo>
                    <a:pt x="13437" y="2202559"/>
                  </a:lnTo>
                  <a:lnTo>
                    <a:pt x="27976" y="2212355"/>
                  </a:lnTo>
                  <a:lnTo>
                    <a:pt x="45720" y="2215946"/>
                  </a:lnTo>
                  <a:lnTo>
                    <a:pt x="63525" y="2212355"/>
                  </a:lnTo>
                  <a:lnTo>
                    <a:pt x="78057" y="2202559"/>
                  </a:lnTo>
                  <a:lnTo>
                    <a:pt x="87850" y="2188027"/>
                  </a:lnTo>
                  <a:lnTo>
                    <a:pt x="91439" y="2170226"/>
                  </a:lnTo>
                  <a:lnTo>
                    <a:pt x="91439" y="45720"/>
                  </a:lnTo>
                  <a:lnTo>
                    <a:pt x="87850" y="27914"/>
                  </a:lnTo>
                  <a:lnTo>
                    <a:pt x="78057" y="13382"/>
                  </a:lnTo>
                  <a:lnTo>
                    <a:pt x="63525" y="358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90461" y="5374640"/>
            <a:ext cx="3201670" cy="176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Impacto</a:t>
            </a:r>
            <a:r>
              <a:rPr sz="2000" b="1" i="1" spc="-9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Nrgativo</a:t>
            </a:r>
            <a:endParaRPr sz="2000">
              <a:latin typeface="Book Antiqua"/>
              <a:cs typeface="Book Antiqua"/>
            </a:endParaRPr>
          </a:p>
          <a:p>
            <a:pPr marL="12700" marR="5080">
              <a:lnSpc>
                <a:spcPct val="135600"/>
              </a:lnSpc>
              <a:spcBef>
                <a:spcPts val="890"/>
              </a:spcBef>
            </a:pPr>
            <a:r>
              <a:rPr sz="16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Afecta</a:t>
            </a:r>
            <a:r>
              <a:rPr sz="160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administración</a:t>
            </a:r>
            <a:r>
              <a:rPr sz="16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créditos,</a:t>
            </a:r>
            <a:r>
              <a:rPr sz="16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revisión</a:t>
            </a:r>
            <a:r>
              <a:rPr sz="16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</a:t>
            </a:r>
            <a:r>
              <a:rPr sz="160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la </a:t>
            </a:r>
            <a:r>
              <a:rPr sz="1600" spc="130" dirty="0">
                <a:solidFill>
                  <a:srgbClr val="405348"/>
                </a:solidFill>
                <a:latin typeface="Microsoft Sans Serif"/>
                <a:cs typeface="Microsoft Sans Serif"/>
              </a:rPr>
              <a:t>toma</a:t>
            </a:r>
            <a:r>
              <a:rPr sz="16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1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decisiones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gerenciales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60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AGROTAC.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6442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7659" y="3181553"/>
            <a:ext cx="9646920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150" dirty="0"/>
              <a:t>Nuestra</a:t>
            </a:r>
            <a:r>
              <a:rPr sz="4150" spc="-140" dirty="0"/>
              <a:t> </a:t>
            </a:r>
            <a:r>
              <a:rPr sz="4150" dirty="0"/>
              <a:t>Solución:</a:t>
            </a:r>
            <a:r>
              <a:rPr sz="4150" spc="-130" dirty="0"/>
              <a:t> </a:t>
            </a:r>
            <a:r>
              <a:rPr sz="4150" spc="-65" dirty="0"/>
              <a:t>PagoSeguroAGROTAC</a:t>
            </a:r>
            <a:endParaRPr sz="4150"/>
          </a:p>
        </p:txBody>
      </p:sp>
      <p:sp>
        <p:nvSpPr>
          <p:cNvPr id="4" name="object 4"/>
          <p:cNvSpPr txBox="1"/>
          <p:nvPr/>
        </p:nvSpPr>
        <p:spPr>
          <a:xfrm>
            <a:off x="727659" y="4239209"/>
            <a:ext cx="1310386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PagoSeguroAGROTAC</a:t>
            </a:r>
            <a:r>
              <a:rPr sz="16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405348"/>
                </a:solidFill>
                <a:latin typeface="Microsoft Sans Serif"/>
                <a:cs typeface="Microsoft Sans Serif"/>
              </a:rPr>
              <a:t>es</a:t>
            </a:r>
            <a:r>
              <a:rPr sz="16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6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6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informático</a:t>
            </a:r>
            <a:r>
              <a:rPr sz="16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moderno,</a:t>
            </a:r>
            <a:r>
              <a:rPr sz="16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automatizado</a:t>
            </a:r>
            <a:r>
              <a:rPr sz="165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seguro</a:t>
            </a:r>
            <a:r>
              <a:rPr sz="16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diseñado</a:t>
            </a:r>
            <a:r>
              <a:rPr sz="165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6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resolver</a:t>
            </a:r>
            <a:r>
              <a:rPr sz="16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dirty="0">
                <a:solidFill>
                  <a:srgbClr val="405348"/>
                </a:solidFill>
                <a:latin typeface="Microsoft Sans Serif"/>
                <a:cs typeface="Microsoft Sans Serif"/>
              </a:rPr>
              <a:t>las</a:t>
            </a:r>
            <a:r>
              <a:rPr sz="16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deficiencias</a:t>
            </a:r>
            <a:r>
              <a:rPr sz="16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actuales.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0333" y="5119242"/>
            <a:ext cx="4242435" cy="635000"/>
          </a:xfrm>
          <a:custGeom>
            <a:avLst/>
            <a:gdLst/>
            <a:ahLst/>
            <a:cxnLst/>
            <a:rect l="l" t="t" r="r" b="b"/>
            <a:pathLst>
              <a:path w="4242435" h="635000">
                <a:moveTo>
                  <a:pt x="3924884" y="0"/>
                </a:moveTo>
                <a:lnTo>
                  <a:pt x="317296" y="0"/>
                </a:lnTo>
                <a:lnTo>
                  <a:pt x="270409" y="3438"/>
                </a:lnTo>
                <a:lnTo>
                  <a:pt x="225658" y="13427"/>
                </a:lnTo>
                <a:lnTo>
                  <a:pt x="183534" y="29477"/>
                </a:lnTo>
                <a:lnTo>
                  <a:pt x="144526" y="51097"/>
                </a:lnTo>
                <a:lnTo>
                  <a:pt x="109128" y="77798"/>
                </a:lnTo>
                <a:lnTo>
                  <a:pt x="77828" y="109089"/>
                </a:lnTo>
                <a:lnTo>
                  <a:pt x="51119" y="144480"/>
                </a:lnTo>
                <a:lnTo>
                  <a:pt x="29490" y="183481"/>
                </a:lnTo>
                <a:lnTo>
                  <a:pt x="13434" y="225602"/>
                </a:lnTo>
                <a:lnTo>
                  <a:pt x="3440" y="270354"/>
                </a:lnTo>
                <a:lnTo>
                  <a:pt x="0" y="317245"/>
                </a:lnTo>
                <a:lnTo>
                  <a:pt x="3440" y="364140"/>
                </a:lnTo>
                <a:lnTo>
                  <a:pt x="13434" y="408900"/>
                </a:lnTo>
                <a:lnTo>
                  <a:pt x="29490" y="451033"/>
                </a:lnTo>
                <a:lnTo>
                  <a:pt x="51119" y="490049"/>
                </a:lnTo>
                <a:lnTo>
                  <a:pt x="77828" y="525457"/>
                </a:lnTo>
                <a:lnTo>
                  <a:pt x="109128" y="556765"/>
                </a:lnTo>
                <a:lnTo>
                  <a:pt x="144526" y="583483"/>
                </a:lnTo>
                <a:lnTo>
                  <a:pt x="183534" y="605118"/>
                </a:lnTo>
                <a:lnTo>
                  <a:pt x="225658" y="621180"/>
                </a:lnTo>
                <a:lnTo>
                  <a:pt x="270409" y="631177"/>
                </a:lnTo>
                <a:lnTo>
                  <a:pt x="317296" y="634618"/>
                </a:lnTo>
                <a:lnTo>
                  <a:pt x="3924884" y="634618"/>
                </a:lnTo>
                <a:lnTo>
                  <a:pt x="3971778" y="631177"/>
                </a:lnTo>
                <a:lnTo>
                  <a:pt x="4016538" y="621180"/>
                </a:lnTo>
                <a:lnTo>
                  <a:pt x="4058671" y="605118"/>
                </a:lnTo>
                <a:lnTo>
                  <a:pt x="4097688" y="583483"/>
                </a:lnTo>
                <a:lnTo>
                  <a:pt x="4133095" y="556765"/>
                </a:lnTo>
                <a:lnTo>
                  <a:pt x="4164404" y="525457"/>
                </a:lnTo>
                <a:lnTo>
                  <a:pt x="4191121" y="490049"/>
                </a:lnTo>
                <a:lnTo>
                  <a:pt x="4212756" y="451033"/>
                </a:lnTo>
                <a:lnTo>
                  <a:pt x="4228818" y="408900"/>
                </a:lnTo>
                <a:lnTo>
                  <a:pt x="4238815" y="364140"/>
                </a:lnTo>
                <a:lnTo>
                  <a:pt x="4242257" y="317245"/>
                </a:lnTo>
                <a:lnTo>
                  <a:pt x="4238815" y="270354"/>
                </a:lnTo>
                <a:lnTo>
                  <a:pt x="4228818" y="225602"/>
                </a:lnTo>
                <a:lnTo>
                  <a:pt x="4212756" y="183481"/>
                </a:lnTo>
                <a:lnTo>
                  <a:pt x="4191121" y="144480"/>
                </a:lnTo>
                <a:lnTo>
                  <a:pt x="4164404" y="109089"/>
                </a:lnTo>
                <a:lnTo>
                  <a:pt x="4133095" y="77798"/>
                </a:lnTo>
                <a:lnTo>
                  <a:pt x="4097688" y="51097"/>
                </a:lnTo>
                <a:lnTo>
                  <a:pt x="4058671" y="29477"/>
                </a:lnTo>
                <a:lnTo>
                  <a:pt x="4016538" y="13427"/>
                </a:lnTo>
                <a:lnTo>
                  <a:pt x="3971778" y="3438"/>
                </a:lnTo>
                <a:lnTo>
                  <a:pt x="3924884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90241" y="5153405"/>
            <a:ext cx="16065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i="1" spc="-110" dirty="0">
                <a:solidFill>
                  <a:srgbClr val="405348"/>
                </a:solidFill>
                <a:latin typeface="Book Antiqua"/>
                <a:cs typeface="Book Antiqua"/>
              </a:rPr>
              <a:t>1</a:t>
            </a:r>
            <a:endParaRPr sz="245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190" y="5941567"/>
            <a:ext cx="3275965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i="1" spc="-95" dirty="0">
                <a:solidFill>
                  <a:srgbClr val="405348"/>
                </a:solidFill>
                <a:latin typeface="Book Antiqua"/>
                <a:cs typeface="Book Antiqua"/>
              </a:rPr>
              <a:t>Comtrof</a:t>
            </a:r>
            <a:r>
              <a:rPr sz="2050" b="1" i="1" spc="-9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Mrjorado</a:t>
            </a:r>
            <a:endParaRPr sz="20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6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Plataforma</a:t>
            </a:r>
            <a:r>
              <a:rPr sz="1650" spc="-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centralizada</a:t>
            </a:r>
            <a:r>
              <a:rPr sz="16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endParaRPr sz="1650">
              <a:latin typeface="Microsoft Sans Serif"/>
              <a:cs typeface="Microsoft Sans Serif"/>
            </a:endParaRPr>
          </a:p>
          <a:p>
            <a:pPr marL="12700" marR="5080">
              <a:lnSpc>
                <a:spcPct val="136400"/>
              </a:lnSpc>
            </a:pPr>
            <a:r>
              <a:rPr sz="16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automatizar</a:t>
            </a:r>
            <a:r>
              <a:rPr sz="16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procesos</a:t>
            </a:r>
            <a:r>
              <a:rPr sz="16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críticos</a:t>
            </a:r>
            <a:r>
              <a:rPr sz="16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 </a:t>
            </a:r>
            <a:r>
              <a:rPr sz="16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gestión</a:t>
            </a:r>
            <a:r>
              <a:rPr sz="16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pagos.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94046" y="5119242"/>
            <a:ext cx="4242435" cy="635000"/>
          </a:xfrm>
          <a:custGeom>
            <a:avLst/>
            <a:gdLst/>
            <a:ahLst/>
            <a:cxnLst/>
            <a:rect l="l" t="t" r="r" b="b"/>
            <a:pathLst>
              <a:path w="4242434" h="635000">
                <a:moveTo>
                  <a:pt x="3924934" y="0"/>
                </a:moveTo>
                <a:lnTo>
                  <a:pt x="317245" y="0"/>
                </a:lnTo>
                <a:lnTo>
                  <a:pt x="270354" y="3438"/>
                </a:lnTo>
                <a:lnTo>
                  <a:pt x="225602" y="13427"/>
                </a:lnTo>
                <a:lnTo>
                  <a:pt x="183481" y="29477"/>
                </a:lnTo>
                <a:lnTo>
                  <a:pt x="144480" y="51097"/>
                </a:lnTo>
                <a:lnTo>
                  <a:pt x="109089" y="77798"/>
                </a:lnTo>
                <a:lnTo>
                  <a:pt x="77798" y="109089"/>
                </a:lnTo>
                <a:lnTo>
                  <a:pt x="51097" y="144480"/>
                </a:lnTo>
                <a:lnTo>
                  <a:pt x="29477" y="183481"/>
                </a:lnTo>
                <a:lnTo>
                  <a:pt x="13427" y="225602"/>
                </a:lnTo>
                <a:lnTo>
                  <a:pt x="3438" y="270354"/>
                </a:lnTo>
                <a:lnTo>
                  <a:pt x="0" y="317245"/>
                </a:lnTo>
                <a:lnTo>
                  <a:pt x="3438" y="364140"/>
                </a:lnTo>
                <a:lnTo>
                  <a:pt x="13427" y="408900"/>
                </a:lnTo>
                <a:lnTo>
                  <a:pt x="29477" y="451033"/>
                </a:lnTo>
                <a:lnTo>
                  <a:pt x="51097" y="490049"/>
                </a:lnTo>
                <a:lnTo>
                  <a:pt x="77798" y="525457"/>
                </a:lnTo>
                <a:lnTo>
                  <a:pt x="109089" y="556765"/>
                </a:lnTo>
                <a:lnTo>
                  <a:pt x="144480" y="583483"/>
                </a:lnTo>
                <a:lnTo>
                  <a:pt x="183481" y="605118"/>
                </a:lnTo>
                <a:lnTo>
                  <a:pt x="225602" y="621180"/>
                </a:lnTo>
                <a:lnTo>
                  <a:pt x="270354" y="631177"/>
                </a:lnTo>
                <a:lnTo>
                  <a:pt x="317245" y="634618"/>
                </a:lnTo>
                <a:lnTo>
                  <a:pt x="3924934" y="634618"/>
                </a:lnTo>
                <a:lnTo>
                  <a:pt x="3971829" y="631177"/>
                </a:lnTo>
                <a:lnTo>
                  <a:pt x="4016589" y="621180"/>
                </a:lnTo>
                <a:lnTo>
                  <a:pt x="4058722" y="605118"/>
                </a:lnTo>
                <a:lnTo>
                  <a:pt x="4097738" y="583483"/>
                </a:lnTo>
                <a:lnTo>
                  <a:pt x="4133146" y="556765"/>
                </a:lnTo>
                <a:lnTo>
                  <a:pt x="4164454" y="525457"/>
                </a:lnTo>
                <a:lnTo>
                  <a:pt x="4191172" y="490049"/>
                </a:lnTo>
                <a:lnTo>
                  <a:pt x="4212807" y="451033"/>
                </a:lnTo>
                <a:lnTo>
                  <a:pt x="4228869" y="408900"/>
                </a:lnTo>
                <a:lnTo>
                  <a:pt x="4238866" y="364140"/>
                </a:lnTo>
                <a:lnTo>
                  <a:pt x="4242308" y="317245"/>
                </a:lnTo>
                <a:lnTo>
                  <a:pt x="4238866" y="270354"/>
                </a:lnTo>
                <a:lnTo>
                  <a:pt x="4228869" y="225602"/>
                </a:lnTo>
                <a:lnTo>
                  <a:pt x="4212807" y="183481"/>
                </a:lnTo>
                <a:lnTo>
                  <a:pt x="4191172" y="144480"/>
                </a:lnTo>
                <a:lnTo>
                  <a:pt x="4164454" y="109089"/>
                </a:lnTo>
                <a:lnTo>
                  <a:pt x="4133146" y="77798"/>
                </a:lnTo>
                <a:lnTo>
                  <a:pt x="4097738" y="51097"/>
                </a:lnTo>
                <a:lnTo>
                  <a:pt x="4058722" y="29477"/>
                </a:lnTo>
                <a:lnTo>
                  <a:pt x="4016589" y="13427"/>
                </a:lnTo>
                <a:lnTo>
                  <a:pt x="3971829" y="3438"/>
                </a:lnTo>
                <a:lnTo>
                  <a:pt x="3924934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44639" y="5153405"/>
            <a:ext cx="20827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i="1" spc="155" dirty="0">
                <a:solidFill>
                  <a:srgbClr val="405348"/>
                </a:solidFill>
                <a:latin typeface="Book Antiqua"/>
                <a:cs typeface="Book Antiqua"/>
              </a:rPr>
              <a:t>2</a:t>
            </a:r>
            <a:endParaRPr sz="245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3182" y="5941567"/>
            <a:ext cx="3736340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i="1" spc="-110" dirty="0">
                <a:solidFill>
                  <a:srgbClr val="405348"/>
                </a:solidFill>
                <a:latin typeface="Book Antiqua"/>
                <a:cs typeface="Book Antiqua"/>
              </a:rPr>
              <a:t>Efiicirmcia</a:t>
            </a:r>
            <a:r>
              <a:rPr sz="2050" b="1" i="1" spc="-4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Oprrativa</a:t>
            </a:r>
            <a:endParaRPr sz="2050">
              <a:latin typeface="Book Antiqua"/>
              <a:cs typeface="Book Antiqua"/>
            </a:endParaRPr>
          </a:p>
          <a:p>
            <a:pPr marL="12700" marR="5080">
              <a:lnSpc>
                <a:spcPct val="136400"/>
              </a:lnSpc>
              <a:spcBef>
                <a:spcPts val="894"/>
              </a:spcBef>
            </a:pPr>
            <a:r>
              <a:rPr sz="165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Validación,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detección</a:t>
            </a:r>
            <a:r>
              <a:rPr sz="16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duplicados</a:t>
            </a:r>
            <a:r>
              <a:rPr sz="165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y </a:t>
            </a:r>
            <a:r>
              <a:rPr sz="16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notificación</a:t>
            </a:r>
            <a:r>
              <a:rPr sz="16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resultados</a:t>
            </a:r>
            <a:r>
              <a:rPr sz="1650" spc="-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6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tiempo </a:t>
            </a:r>
            <a:r>
              <a:rPr sz="16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real.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47808" y="5119242"/>
            <a:ext cx="4242435" cy="635000"/>
          </a:xfrm>
          <a:custGeom>
            <a:avLst/>
            <a:gdLst/>
            <a:ahLst/>
            <a:cxnLst/>
            <a:rect l="l" t="t" r="r" b="b"/>
            <a:pathLst>
              <a:path w="4242434" h="635000">
                <a:moveTo>
                  <a:pt x="3924808" y="0"/>
                </a:moveTo>
                <a:lnTo>
                  <a:pt x="317246" y="0"/>
                </a:lnTo>
                <a:lnTo>
                  <a:pt x="270354" y="3438"/>
                </a:lnTo>
                <a:lnTo>
                  <a:pt x="225602" y="13427"/>
                </a:lnTo>
                <a:lnTo>
                  <a:pt x="183481" y="29477"/>
                </a:lnTo>
                <a:lnTo>
                  <a:pt x="144480" y="51097"/>
                </a:lnTo>
                <a:lnTo>
                  <a:pt x="109089" y="77798"/>
                </a:lnTo>
                <a:lnTo>
                  <a:pt x="77798" y="109089"/>
                </a:lnTo>
                <a:lnTo>
                  <a:pt x="51097" y="144480"/>
                </a:lnTo>
                <a:lnTo>
                  <a:pt x="29477" y="183481"/>
                </a:lnTo>
                <a:lnTo>
                  <a:pt x="13427" y="225602"/>
                </a:lnTo>
                <a:lnTo>
                  <a:pt x="3438" y="270354"/>
                </a:lnTo>
                <a:lnTo>
                  <a:pt x="0" y="317245"/>
                </a:lnTo>
                <a:lnTo>
                  <a:pt x="3438" y="364140"/>
                </a:lnTo>
                <a:lnTo>
                  <a:pt x="13427" y="408900"/>
                </a:lnTo>
                <a:lnTo>
                  <a:pt x="29477" y="451033"/>
                </a:lnTo>
                <a:lnTo>
                  <a:pt x="51097" y="490049"/>
                </a:lnTo>
                <a:lnTo>
                  <a:pt x="77798" y="525457"/>
                </a:lnTo>
                <a:lnTo>
                  <a:pt x="109089" y="556765"/>
                </a:lnTo>
                <a:lnTo>
                  <a:pt x="144480" y="583483"/>
                </a:lnTo>
                <a:lnTo>
                  <a:pt x="183481" y="605118"/>
                </a:lnTo>
                <a:lnTo>
                  <a:pt x="225602" y="621180"/>
                </a:lnTo>
                <a:lnTo>
                  <a:pt x="270354" y="631177"/>
                </a:lnTo>
                <a:lnTo>
                  <a:pt x="317246" y="634618"/>
                </a:lnTo>
                <a:lnTo>
                  <a:pt x="3924808" y="634618"/>
                </a:lnTo>
                <a:lnTo>
                  <a:pt x="3971702" y="631177"/>
                </a:lnTo>
                <a:lnTo>
                  <a:pt x="4016462" y="621180"/>
                </a:lnTo>
                <a:lnTo>
                  <a:pt x="4058595" y="605118"/>
                </a:lnTo>
                <a:lnTo>
                  <a:pt x="4097611" y="583483"/>
                </a:lnTo>
                <a:lnTo>
                  <a:pt x="4133019" y="556765"/>
                </a:lnTo>
                <a:lnTo>
                  <a:pt x="4164327" y="525457"/>
                </a:lnTo>
                <a:lnTo>
                  <a:pt x="4191045" y="490049"/>
                </a:lnTo>
                <a:lnTo>
                  <a:pt x="4212680" y="451033"/>
                </a:lnTo>
                <a:lnTo>
                  <a:pt x="4228742" y="408900"/>
                </a:lnTo>
                <a:lnTo>
                  <a:pt x="4238739" y="364140"/>
                </a:lnTo>
                <a:lnTo>
                  <a:pt x="4242181" y="317245"/>
                </a:lnTo>
                <a:lnTo>
                  <a:pt x="4238739" y="270354"/>
                </a:lnTo>
                <a:lnTo>
                  <a:pt x="4228742" y="225602"/>
                </a:lnTo>
                <a:lnTo>
                  <a:pt x="4212680" y="183481"/>
                </a:lnTo>
                <a:lnTo>
                  <a:pt x="4191045" y="144480"/>
                </a:lnTo>
                <a:lnTo>
                  <a:pt x="4164327" y="109089"/>
                </a:lnTo>
                <a:lnTo>
                  <a:pt x="4133019" y="77798"/>
                </a:lnTo>
                <a:lnTo>
                  <a:pt x="4097611" y="51097"/>
                </a:lnTo>
                <a:lnTo>
                  <a:pt x="4058595" y="29477"/>
                </a:lnTo>
                <a:lnTo>
                  <a:pt x="4016462" y="13427"/>
                </a:lnTo>
                <a:lnTo>
                  <a:pt x="3971702" y="3438"/>
                </a:lnTo>
                <a:lnTo>
                  <a:pt x="3924808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98656" y="5153405"/>
            <a:ext cx="19177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i="1" spc="20" dirty="0">
                <a:solidFill>
                  <a:srgbClr val="405348"/>
                </a:solidFill>
                <a:latin typeface="Book Antiqua"/>
                <a:cs typeface="Book Antiqua"/>
              </a:rPr>
              <a:t>3</a:t>
            </a:r>
            <a:endParaRPr sz="245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47580" y="5941567"/>
            <a:ext cx="3474085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i="1" spc="-60" dirty="0">
                <a:solidFill>
                  <a:srgbClr val="405348"/>
                </a:solidFill>
                <a:latin typeface="Book Antiqua"/>
                <a:cs typeface="Book Antiqua"/>
              </a:rPr>
              <a:t>Tramsparrmcia</a:t>
            </a:r>
            <a:r>
              <a:rPr sz="2050" b="1" i="1" spc="-5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5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Totaf</a:t>
            </a:r>
            <a:endParaRPr sz="20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165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Generación</a:t>
            </a:r>
            <a:r>
              <a:rPr sz="165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50" spc="1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reportes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administrativos</a:t>
            </a:r>
            <a:r>
              <a:rPr sz="16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5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seguimiento</a:t>
            </a: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6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detallado</a:t>
            </a:r>
            <a:r>
              <a:rPr sz="16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créditos</a:t>
            </a:r>
            <a:r>
              <a:rPr sz="1650" spc="-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morosidad.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2645" y="402463"/>
            <a:ext cx="631317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30" dirty="0"/>
              <a:t>Impacto</a:t>
            </a:r>
            <a:r>
              <a:rPr sz="3100" spc="-135" dirty="0"/>
              <a:t> </a:t>
            </a:r>
            <a:r>
              <a:rPr sz="3100" spc="-165" dirty="0"/>
              <a:t>y</a:t>
            </a:r>
            <a:r>
              <a:rPr sz="3100" spc="-85" dirty="0"/>
              <a:t> </a:t>
            </a:r>
            <a:r>
              <a:rPr sz="3100" spc="-105" dirty="0"/>
              <a:t>Justifiicación</a:t>
            </a:r>
            <a:r>
              <a:rPr sz="3100" spc="-135" dirty="0"/>
              <a:t> </a:t>
            </a:r>
            <a:r>
              <a:rPr sz="3100" dirty="0"/>
              <a:t>del</a:t>
            </a:r>
            <a:r>
              <a:rPr sz="3100" spc="-90" dirty="0"/>
              <a:t> </a:t>
            </a:r>
            <a:r>
              <a:rPr sz="3100" spc="-10" dirty="0"/>
              <a:t>Proyecto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542645" y="1275333"/>
            <a:ext cx="8868410" cy="2753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2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implementación</a:t>
            </a:r>
            <a:r>
              <a:rPr sz="12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PagoSeguroAGROTAC</a:t>
            </a:r>
            <a:r>
              <a:rPr sz="12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impactará</a:t>
            </a:r>
            <a:r>
              <a:rPr sz="12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significativamente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la</a:t>
            </a:r>
            <a:r>
              <a:rPr sz="12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eficiencia</a:t>
            </a:r>
            <a:r>
              <a:rPr sz="12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operativa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y 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2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toma</a:t>
            </a:r>
            <a:r>
              <a:rPr sz="12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decisiones.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50" b="1" i="1" spc="-75" dirty="0">
                <a:solidFill>
                  <a:srgbClr val="3A4540"/>
                </a:solidFill>
                <a:latin typeface="Book Antiqua"/>
                <a:cs typeface="Book Antiqua"/>
              </a:rPr>
              <a:t>Brmrfiicios</a:t>
            </a:r>
            <a:r>
              <a:rPr sz="1550" b="1" i="1" spc="-20" dirty="0">
                <a:solidFill>
                  <a:srgbClr val="3A4540"/>
                </a:solidFill>
                <a:latin typeface="Book Antiqua"/>
                <a:cs typeface="Book Antiqua"/>
              </a:rPr>
              <a:t> Cfavr</a:t>
            </a:r>
            <a:endParaRPr sz="1550">
              <a:latin typeface="Book Antiqua"/>
              <a:cs typeface="Book Antiqua"/>
            </a:endParaRPr>
          </a:p>
          <a:p>
            <a:pPr marL="355600" indent="-342900">
              <a:lnSpc>
                <a:spcPct val="100000"/>
              </a:lnSpc>
              <a:spcBef>
                <a:spcPts val="1689"/>
              </a:spcBef>
              <a:buChar char="•"/>
              <a:tabLst>
                <a:tab pos="355600" algn="l"/>
              </a:tabLst>
            </a:pPr>
            <a:r>
              <a:rPr sz="12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Integridad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datos</a:t>
            </a:r>
            <a:r>
              <a:rPr sz="12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garantizada.</a:t>
            </a:r>
            <a:endParaRPr sz="1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5600" algn="l"/>
              </a:tabLst>
            </a:pP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Reducción</a:t>
            </a:r>
            <a:r>
              <a:rPr sz="12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drástica</a:t>
            </a:r>
            <a:r>
              <a:rPr sz="12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duplicados</a:t>
            </a:r>
            <a:r>
              <a:rPr sz="12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2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pérdidas.</a:t>
            </a:r>
            <a:endParaRPr sz="1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5600" algn="l"/>
              </a:tabLst>
            </a:pP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Liberación</a:t>
            </a:r>
            <a:r>
              <a:rPr sz="12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personal</a:t>
            </a: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administrativo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tareas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repetitivas.</a:t>
            </a:r>
            <a:endParaRPr sz="1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355600" algn="l"/>
              </a:tabLst>
            </a:pP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Trazabilidad</a:t>
            </a:r>
            <a:r>
              <a:rPr sz="12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completa</a:t>
            </a:r>
            <a:r>
              <a:rPr sz="12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2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ciclo</a:t>
            </a: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pagos.</a:t>
            </a:r>
            <a:endParaRPr sz="1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5600" algn="l"/>
              </a:tabLst>
            </a:pP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Mejor</a:t>
            </a:r>
            <a:r>
              <a:rPr sz="12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monitoreo</a:t>
            </a:r>
            <a:r>
              <a:rPr sz="12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créditos</a:t>
            </a:r>
            <a:r>
              <a:rPr sz="12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detección</a:t>
            </a:r>
            <a:r>
              <a:rPr sz="12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morosidad.</a:t>
            </a:r>
            <a:endParaRPr sz="1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har char="•"/>
              <a:tabLst>
                <a:tab pos="355600" algn="l"/>
              </a:tabLst>
            </a:pP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Reportes</a:t>
            </a:r>
            <a:r>
              <a:rPr sz="12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confiables</a:t>
            </a:r>
            <a:r>
              <a:rPr sz="12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una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mejor </a:t>
            </a:r>
            <a:r>
              <a:rPr sz="12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toma</a:t>
            </a:r>
            <a:r>
              <a:rPr sz="12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decisiones.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16368" y="1860613"/>
            <a:ext cx="7120890" cy="6375400"/>
            <a:chOff x="7516368" y="1860613"/>
            <a:chExt cx="7120890" cy="6375400"/>
          </a:xfrm>
        </p:grpSpPr>
        <p:sp>
          <p:nvSpPr>
            <p:cNvPr id="5" name="object 5"/>
            <p:cNvSpPr/>
            <p:nvPr/>
          </p:nvSpPr>
          <p:spPr>
            <a:xfrm>
              <a:off x="13383641" y="7628331"/>
              <a:ext cx="1247140" cy="601345"/>
            </a:xfrm>
            <a:custGeom>
              <a:avLst/>
              <a:gdLst/>
              <a:ahLst/>
              <a:cxnLst/>
              <a:rect l="l" t="t" r="r" b="b"/>
              <a:pathLst>
                <a:path w="1247140" h="601345">
                  <a:moveTo>
                    <a:pt x="1093724" y="0"/>
                  </a:moveTo>
                  <a:lnTo>
                    <a:pt x="1021815" y="639"/>
                  </a:lnTo>
                  <a:lnTo>
                    <a:pt x="951147" y="2531"/>
                  </a:lnTo>
                  <a:lnTo>
                    <a:pt x="881866" y="5636"/>
                  </a:lnTo>
                  <a:lnTo>
                    <a:pt x="814114" y="9914"/>
                  </a:lnTo>
                  <a:lnTo>
                    <a:pt x="748036" y="15326"/>
                  </a:lnTo>
                  <a:lnTo>
                    <a:pt x="683776" y="21832"/>
                  </a:lnTo>
                  <a:lnTo>
                    <a:pt x="621478" y="29392"/>
                  </a:lnTo>
                  <a:lnTo>
                    <a:pt x="561286" y="37967"/>
                  </a:lnTo>
                  <a:lnTo>
                    <a:pt x="503346" y="47517"/>
                  </a:lnTo>
                  <a:lnTo>
                    <a:pt x="447799" y="58003"/>
                  </a:lnTo>
                  <a:lnTo>
                    <a:pt x="394792" y="69385"/>
                  </a:lnTo>
                  <a:lnTo>
                    <a:pt x="344468" y="81624"/>
                  </a:lnTo>
                  <a:lnTo>
                    <a:pt x="296971" y="94679"/>
                  </a:lnTo>
                  <a:lnTo>
                    <a:pt x="252445" y="108511"/>
                  </a:lnTo>
                  <a:lnTo>
                    <a:pt x="211035" y="123081"/>
                  </a:lnTo>
                  <a:lnTo>
                    <a:pt x="172884" y="138349"/>
                  </a:lnTo>
                  <a:lnTo>
                    <a:pt x="138138" y="154276"/>
                  </a:lnTo>
                  <a:lnTo>
                    <a:pt x="79432" y="187945"/>
                  </a:lnTo>
                  <a:lnTo>
                    <a:pt x="36072" y="223772"/>
                  </a:lnTo>
                  <a:lnTo>
                    <a:pt x="9210" y="261441"/>
                  </a:lnTo>
                  <a:lnTo>
                    <a:pt x="0" y="300634"/>
                  </a:lnTo>
                  <a:lnTo>
                    <a:pt x="2326" y="320401"/>
                  </a:lnTo>
                  <a:lnTo>
                    <a:pt x="20506" y="358871"/>
                  </a:lnTo>
                  <a:lnTo>
                    <a:pt x="55762" y="395659"/>
                  </a:lnTo>
                  <a:lnTo>
                    <a:pt x="106939" y="430447"/>
                  </a:lnTo>
                  <a:lnTo>
                    <a:pt x="172884" y="462918"/>
                  </a:lnTo>
                  <a:lnTo>
                    <a:pt x="211035" y="478186"/>
                  </a:lnTo>
                  <a:lnTo>
                    <a:pt x="252445" y="492756"/>
                  </a:lnTo>
                  <a:lnTo>
                    <a:pt x="296971" y="506588"/>
                  </a:lnTo>
                  <a:lnTo>
                    <a:pt x="344468" y="519643"/>
                  </a:lnTo>
                  <a:lnTo>
                    <a:pt x="394792" y="531882"/>
                  </a:lnTo>
                  <a:lnTo>
                    <a:pt x="447799" y="543263"/>
                  </a:lnTo>
                  <a:lnTo>
                    <a:pt x="503346" y="553749"/>
                  </a:lnTo>
                  <a:lnTo>
                    <a:pt x="561286" y="563300"/>
                  </a:lnTo>
                  <a:lnTo>
                    <a:pt x="621478" y="571875"/>
                  </a:lnTo>
                  <a:lnTo>
                    <a:pt x="683776" y="579435"/>
                  </a:lnTo>
                  <a:lnTo>
                    <a:pt x="748036" y="585941"/>
                  </a:lnTo>
                  <a:lnTo>
                    <a:pt x="814114" y="591352"/>
                  </a:lnTo>
                  <a:lnTo>
                    <a:pt x="881866" y="595631"/>
                  </a:lnTo>
                  <a:lnTo>
                    <a:pt x="951147" y="598735"/>
                  </a:lnTo>
                  <a:lnTo>
                    <a:pt x="1021815" y="600627"/>
                  </a:lnTo>
                  <a:lnTo>
                    <a:pt x="1093724" y="601268"/>
                  </a:lnTo>
                  <a:lnTo>
                    <a:pt x="1165647" y="600627"/>
                  </a:lnTo>
                  <a:lnTo>
                    <a:pt x="1236328" y="598735"/>
                  </a:lnTo>
                  <a:lnTo>
                    <a:pt x="1246759" y="598268"/>
                  </a:lnTo>
                  <a:lnTo>
                    <a:pt x="1246759" y="2998"/>
                  </a:lnTo>
                  <a:lnTo>
                    <a:pt x="1236328" y="2531"/>
                  </a:lnTo>
                  <a:lnTo>
                    <a:pt x="1165647" y="639"/>
                  </a:lnTo>
                  <a:lnTo>
                    <a:pt x="1093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83641" y="7628331"/>
              <a:ext cx="1247140" cy="601345"/>
            </a:xfrm>
            <a:custGeom>
              <a:avLst/>
              <a:gdLst/>
              <a:ahLst/>
              <a:cxnLst/>
              <a:rect l="l" t="t" r="r" b="b"/>
              <a:pathLst>
                <a:path w="1247140" h="601345">
                  <a:moveTo>
                    <a:pt x="1246759" y="598268"/>
                  </a:moveTo>
                  <a:lnTo>
                    <a:pt x="1236328" y="598735"/>
                  </a:lnTo>
                  <a:lnTo>
                    <a:pt x="1165647" y="600627"/>
                  </a:lnTo>
                  <a:lnTo>
                    <a:pt x="1093724" y="601268"/>
                  </a:lnTo>
                  <a:lnTo>
                    <a:pt x="1021815" y="600627"/>
                  </a:lnTo>
                  <a:lnTo>
                    <a:pt x="951147" y="598735"/>
                  </a:lnTo>
                  <a:lnTo>
                    <a:pt x="881866" y="595631"/>
                  </a:lnTo>
                  <a:lnTo>
                    <a:pt x="814114" y="591352"/>
                  </a:lnTo>
                  <a:lnTo>
                    <a:pt x="748036" y="585941"/>
                  </a:lnTo>
                  <a:lnTo>
                    <a:pt x="683776" y="579435"/>
                  </a:lnTo>
                  <a:lnTo>
                    <a:pt x="621478" y="571875"/>
                  </a:lnTo>
                  <a:lnTo>
                    <a:pt x="561286" y="563300"/>
                  </a:lnTo>
                  <a:lnTo>
                    <a:pt x="503346" y="553749"/>
                  </a:lnTo>
                  <a:lnTo>
                    <a:pt x="447799" y="543263"/>
                  </a:lnTo>
                  <a:lnTo>
                    <a:pt x="394792" y="531882"/>
                  </a:lnTo>
                  <a:lnTo>
                    <a:pt x="344468" y="519643"/>
                  </a:lnTo>
                  <a:lnTo>
                    <a:pt x="296971" y="506588"/>
                  </a:lnTo>
                  <a:lnTo>
                    <a:pt x="252445" y="492756"/>
                  </a:lnTo>
                  <a:lnTo>
                    <a:pt x="211035" y="478186"/>
                  </a:lnTo>
                  <a:lnTo>
                    <a:pt x="172884" y="462918"/>
                  </a:lnTo>
                  <a:lnTo>
                    <a:pt x="138138" y="446992"/>
                  </a:lnTo>
                  <a:lnTo>
                    <a:pt x="79432" y="413323"/>
                  </a:lnTo>
                  <a:lnTo>
                    <a:pt x="36072" y="377495"/>
                  </a:lnTo>
                  <a:lnTo>
                    <a:pt x="9210" y="339827"/>
                  </a:lnTo>
                  <a:lnTo>
                    <a:pt x="0" y="300634"/>
                  </a:lnTo>
                  <a:lnTo>
                    <a:pt x="2326" y="280867"/>
                  </a:lnTo>
                  <a:lnTo>
                    <a:pt x="20506" y="242396"/>
                  </a:lnTo>
                  <a:lnTo>
                    <a:pt x="55762" y="205609"/>
                  </a:lnTo>
                  <a:lnTo>
                    <a:pt x="106939" y="170821"/>
                  </a:lnTo>
                  <a:lnTo>
                    <a:pt x="172884" y="138349"/>
                  </a:lnTo>
                  <a:lnTo>
                    <a:pt x="211035" y="123081"/>
                  </a:lnTo>
                  <a:lnTo>
                    <a:pt x="252445" y="108511"/>
                  </a:lnTo>
                  <a:lnTo>
                    <a:pt x="296971" y="94679"/>
                  </a:lnTo>
                  <a:lnTo>
                    <a:pt x="344468" y="81624"/>
                  </a:lnTo>
                  <a:lnTo>
                    <a:pt x="394792" y="69385"/>
                  </a:lnTo>
                  <a:lnTo>
                    <a:pt x="447799" y="58003"/>
                  </a:lnTo>
                  <a:lnTo>
                    <a:pt x="503346" y="47517"/>
                  </a:lnTo>
                  <a:lnTo>
                    <a:pt x="561286" y="37967"/>
                  </a:lnTo>
                  <a:lnTo>
                    <a:pt x="621478" y="29392"/>
                  </a:lnTo>
                  <a:lnTo>
                    <a:pt x="683776" y="21832"/>
                  </a:lnTo>
                  <a:lnTo>
                    <a:pt x="748036" y="15326"/>
                  </a:lnTo>
                  <a:lnTo>
                    <a:pt x="814114" y="9914"/>
                  </a:lnTo>
                  <a:lnTo>
                    <a:pt x="881866" y="5636"/>
                  </a:lnTo>
                  <a:lnTo>
                    <a:pt x="951147" y="2531"/>
                  </a:lnTo>
                  <a:lnTo>
                    <a:pt x="1021815" y="639"/>
                  </a:lnTo>
                  <a:lnTo>
                    <a:pt x="1093724" y="0"/>
                  </a:lnTo>
                  <a:lnTo>
                    <a:pt x="1165647" y="639"/>
                  </a:lnTo>
                  <a:lnTo>
                    <a:pt x="1236328" y="2531"/>
                  </a:lnTo>
                  <a:lnTo>
                    <a:pt x="1246759" y="2998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6368" y="1860613"/>
              <a:ext cx="6566154" cy="63689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82649" y="7131875"/>
              <a:ext cx="547801" cy="86095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67805" y="539876"/>
            <a:ext cx="425386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95"/>
              </a:spcBef>
            </a:pPr>
            <a:r>
              <a:rPr sz="3300" spc="-35" dirty="0"/>
              <a:t>Objrtivos</a:t>
            </a:r>
            <a:r>
              <a:rPr sz="3300" spc="-160" dirty="0"/>
              <a:t> </a:t>
            </a:r>
            <a:r>
              <a:rPr sz="3300" spc="80" dirty="0"/>
              <a:t>drf</a:t>
            </a:r>
            <a:r>
              <a:rPr sz="3300" spc="-150" dirty="0"/>
              <a:t> </a:t>
            </a:r>
            <a:r>
              <a:rPr sz="3300" spc="-10" dirty="0"/>
              <a:t>Proyrcto </a:t>
            </a:r>
            <a:r>
              <a:rPr sz="3300" spc="-50" dirty="0"/>
              <a:t>PagoSrguroAGROTAC</a:t>
            </a:r>
            <a:endParaRPr sz="3300"/>
          </a:p>
        </p:txBody>
      </p:sp>
      <p:grpSp>
        <p:nvGrpSpPr>
          <p:cNvPr id="4" name="object 4"/>
          <p:cNvGrpSpPr/>
          <p:nvPr/>
        </p:nvGrpSpPr>
        <p:grpSpPr>
          <a:xfrm>
            <a:off x="6079871" y="2031873"/>
            <a:ext cx="508634" cy="1184910"/>
            <a:chOff x="6079871" y="2031873"/>
            <a:chExt cx="508634" cy="1184910"/>
          </a:xfrm>
        </p:grpSpPr>
        <p:sp>
          <p:nvSpPr>
            <p:cNvPr id="5" name="object 5"/>
            <p:cNvSpPr/>
            <p:nvPr/>
          </p:nvSpPr>
          <p:spPr>
            <a:xfrm>
              <a:off x="6079871" y="2031872"/>
              <a:ext cx="508634" cy="1184910"/>
            </a:xfrm>
            <a:custGeom>
              <a:avLst/>
              <a:gdLst/>
              <a:ahLst/>
              <a:cxnLst/>
              <a:rect l="l" t="t" r="r" b="b"/>
              <a:pathLst>
                <a:path w="508634" h="1184910">
                  <a:moveTo>
                    <a:pt x="508635" y="254381"/>
                  </a:moveTo>
                  <a:lnTo>
                    <a:pt x="504532" y="208673"/>
                  </a:lnTo>
                  <a:lnTo>
                    <a:pt x="492709" y="165633"/>
                  </a:lnTo>
                  <a:lnTo>
                    <a:pt x="473887" y="126009"/>
                  </a:lnTo>
                  <a:lnTo>
                    <a:pt x="448792" y="90500"/>
                  </a:lnTo>
                  <a:lnTo>
                    <a:pt x="418134" y="59842"/>
                  </a:lnTo>
                  <a:lnTo>
                    <a:pt x="382625" y="34747"/>
                  </a:lnTo>
                  <a:lnTo>
                    <a:pt x="343001" y="15925"/>
                  </a:lnTo>
                  <a:lnTo>
                    <a:pt x="299961" y="4102"/>
                  </a:lnTo>
                  <a:lnTo>
                    <a:pt x="254254" y="0"/>
                  </a:lnTo>
                  <a:lnTo>
                    <a:pt x="208534" y="4102"/>
                  </a:lnTo>
                  <a:lnTo>
                    <a:pt x="165519" y="15925"/>
                  </a:lnTo>
                  <a:lnTo>
                    <a:pt x="125907" y="34747"/>
                  </a:lnTo>
                  <a:lnTo>
                    <a:pt x="90424" y="59842"/>
                  </a:lnTo>
                  <a:lnTo>
                    <a:pt x="59778" y="90500"/>
                  </a:lnTo>
                  <a:lnTo>
                    <a:pt x="34696" y="126009"/>
                  </a:lnTo>
                  <a:lnTo>
                    <a:pt x="15900" y="165633"/>
                  </a:lnTo>
                  <a:lnTo>
                    <a:pt x="4089" y="208673"/>
                  </a:lnTo>
                  <a:lnTo>
                    <a:pt x="0" y="254381"/>
                  </a:lnTo>
                  <a:lnTo>
                    <a:pt x="4089" y="300101"/>
                  </a:lnTo>
                  <a:lnTo>
                    <a:pt x="15900" y="343115"/>
                  </a:lnTo>
                  <a:lnTo>
                    <a:pt x="34696" y="382727"/>
                  </a:lnTo>
                  <a:lnTo>
                    <a:pt x="59778" y="418211"/>
                  </a:lnTo>
                  <a:lnTo>
                    <a:pt x="90424" y="448856"/>
                  </a:lnTo>
                  <a:lnTo>
                    <a:pt x="125907" y="473938"/>
                  </a:lnTo>
                  <a:lnTo>
                    <a:pt x="165519" y="492734"/>
                  </a:lnTo>
                  <a:lnTo>
                    <a:pt x="169545" y="493852"/>
                  </a:lnTo>
                  <a:lnTo>
                    <a:pt x="169545" y="1099693"/>
                  </a:lnTo>
                  <a:lnTo>
                    <a:pt x="176187" y="1132725"/>
                  </a:lnTo>
                  <a:lnTo>
                    <a:pt x="194322" y="1159687"/>
                  </a:lnTo>
                  <a:lnTo>
                    <a:pt x="221246" y="1177874"/>
                  </a:lnTo>
                  <a:lnTo>
                    <a:pt x="254254" y="1184529"/>
                  </a:lnTo>
                  <a:lnTo>
                    <a:pt x="287274" y="1177874"/>
                  </a:lnTo>
                  <a:lnTo>
                    <a:pt x="314236" y="1159687"/>
                  </a:lnTo>
                  <a:lnTo>
                    <a:pt x="332422" y="1132725"/>
                  </a:lnTo>
                  <a:lnTo>
                    <a:pt x="339090" y="1099693"/>
                  </a:lnTo>
                  <a:lnTo>
                    <a:pt x="339090" y="493814"/>
                  </a:lnTo>
                  <a:lnTo>
                    <a:pt x="343001" y="492734"/>
                  </a:lnTo>
                  <a:lnTo>
                    <a:pt x="382625" y="473938"/>
                  </a:lnTo>
                  <a:lnTo>
                    <a:pt x="418134" y="448856"/>
                  </a:lnTo>
                  <a:lnTo>
                    <a:pt x="448792" y="418211"/>
                  </a:lnTo>
                  <a:lnTo>
                    <a:pt x="473887" y="382727"/>
                  </a:lnTo>
                  <a:lnTo>
                    <a:pt x="492709" y="343115"/>
                  </a:lnTo>
                  <a:lnTo>
                    <a:pt x="504532" y="300101"/>
                  </a:lnTo>
                  <a:lnTo>
                    <a:pt x="508635" y="254381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455" y="2169499"/>
              <a:ext cx="238730" cy="23872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745985" y="2056002"/>
            <a:ext cx="6220460" cy="96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Objrtivo</a:t>
            </a:r>
            <a:r>
              <a:rPr sz="2000" b="1" i="1" spc="-6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Grmrraf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3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Automatizar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gestión</a:t>
            </a:r>
            <a:r>
              <a:rPr sz="13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3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comprobantes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3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créditos,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garantizando</a:t>
            </a:r>
            <a:r>
              <a:rPr sz="13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trazabilidad,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minimización</a:t>
            </a:r>
            <a:r>
              <a:rPr sz="13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3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errores</a:t>
            </a:r>
            <a:r>
              <a:rPr sz="13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optimización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3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reportes</a:t>
            </a:r>
            <a:r>
              <a:rPr sz="13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administrativos.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34125" y="3502533"/>
            <a:ext cx="508634" cy="1184910"/>
            <a:chOff x="6334125" y="3502533"/>
            <a:chExt cx="508634" cy="1184910"/>
          </a:xfrm>
        </p:grpSpPr>
        <p:sp>
          <p:nvSpPr>
            <p:cNvPr id="9" name="object 9"/>
            <p:cNvSpPr/>
            <p:nvPr/>
          </p:nvSpPr>
          <p:spPr>
            <a:xfrm>
              <a:off x="6334125" y="3502532"/>
              <a:ext cx="508634" cy="1184910"/>
            </a:xfrm>
            <a:custGeom>
              <a:avLst/>
              <a:gdLst/>
              <a:ahLst/>
              <a:cxnLst/>
              <a:rect l="l" t="t" r="r" b="b"/>
              <a:pathLst>
                <a:path w="508634" h="1184910">
                  <a:moveTo>
                    <a:pt x="508635" y="254381"/>
                  </a:moveTo>
                  <a:lnTo>
                    <a:pt x="504532" y="208673"/>
                  </a:lnTo>
                  <a:lnTo>
                    <a:pt x="492709" y="165633"/>
                  </a:lnTo>
                  <a:lnTo>
                    <a:pt x="473887" y="126009"/>
                  </a:lnTo>
                  <a:lnTo>
                    <a:pt x="448792" y="90500"/>
                  </a:lnTo>
                  <a:lnTo>
                    <a:pt x="418134" y="59842"/>
                  </a:lnTo>
                  <a:lnTo>
                    <a:pt x="382625" y="34747"/>
                  </a:lnTo>
                  <a:lnTo>
                    <a:pt x="343001" y="15925"/>
                  </a:lnTo>
                  <a:lnTo>
                    <a:pt x="299961" y="4102"/>
                  </a:lnTo>
                  <a:lnTo>
                    <a:pt x="254254" y="0"/>
                  </a:lnTo>
                  <a:lnTo>
                    <a:pt x="208572" y="4102"/>
                  </a:lnTo>
                  <a:lnTo>
                    <a:pt x="165569" y="15925"/>
                  </a:lnTo>
                  <a:lnTo>
                    <a:pt x="125958" y="34747"/>
                  </a:lnTo>
                  <a:lnTo>
                    <a:pt x="90474" y="59842"/>
                  </a:lnTo>
                  <a:lnTo>
                    <a:pt x="59817" y="90500"/>
                  </a:lnTo>
                  <a:lnTo>
                    <a:pt x="34721" y="126009"/>
                  </a:lnTo>
                  <a:lnTo>
                    <a:pt x="15913" y="165633"/>
                  </a:lnTo>
                  <a:lnTo>
                    <a:pt x="4089" y="208673"/>
                  </a:lnTo>
                  <a:lnTo>
                    <a:pt x="0" y="254381"/>
                  </a:lnTo>
                  <a:lnTo>
                    <a:pt x="4089" y="300101"/>
                  </a:lnTo>
                  <a:lnTo>
                    <a:pt x="15913" y="343115"/>
                  </a:lnTo>
                  <a:lnTo>
                    <a:pt x="34721" y="382727"/>
                  </a:lnTo>
                  <a:lnTo>
                    <a:pt x="59817" y="418211"/>
                  </a:lnTo>
                  <a:lnTo>
                    <a:pt x="90474" y="448856"/>
                  </a:lnTo>
                  <a:lnTo>
                    <a:pt x="125958" y="473938"/>
                  </a:lnTo>
                  <a:lnTo>
                    <a:pt x="165569" y="492734"/>
                  </a:lnTo>
                  <a:lnTo>
                    <a:pt x="169545" y="493826"/>
                  </a:lnTo>
                  <a:lnTo>
                    <a:pt x="169545" y="1099693"/>
                  </a:lnTo>
                  <a:lnTo>
                    <a:pt x="176199" y="1132725"/>
                  </a:lnTo>
                  <a:lnTo>
                    <a:pt x="194373" y="1159687"/>
                  </a:lnTo>
                  <a:lnTo>
                    <a:pt x="221297" y="1177874"/>
                  </a:lnTo>
                  <a:lnTo>
                    <a:pt x="254254" y="1184529"/>
                  </a:lnTo>
                  <a:lnTo>
                    <a:pt x="287274" y="1177874"/>
                  </a:lnTo>
                  <a:lnTo>
                    <a:pt x="314236" y="1159687"/>
                  </a:lnTo>
                  <a:lnTo>
                    <a:pt x="332422" y="1132725"/>
                  </a:lnTo>
                  <a:lnTo>
                    <a:pt x="339090" y="1099693"/>
                  </a:lnTo>
                  <a:lnTo>
                    <a:pt x="339090" y="493814"/>
                  </a:lnTo>
                  <a:lnTo>
                    <a:pt x="343001" y="492734"/>
                  </a:lnTo>
                  <a:lnTo>
                    <a:pt x="382625" y="473938"/>
                  </a:lnTo>
                  <a:lnTo>
                    <a:pt x="418134" y="448856"/>
                  </a:lnTo>
                  <a:lnTo>
                    <a:pt x="448792" y="418211"/>
                  </a:lnTo>
                  <a:lnTo>
                    <a:pt x="473887" y="382727"/>
                  </a:lnTo>
                  <a:lnTo>
                    <a:pt x="492709" y="343115"/>
                  </a:lnTo>
                  <a:lnTo>
                    <a:pt x="504532" y="300101"/>
                  </a:lnTo>
                  <a:lnTo>
                    <a:pt x="508635" y="254381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3064" y="3635074"/>
              <a:ext cx="210767" cy="24371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00493" y="3526916"/>
            <a:ext cx="6930390" cy="96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Validación</a:t>
            </a:r>
            <a:r>
              <a:rPr sz="2000" b="1" i="1" spc="-7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55" dirty="0">
                <a:solidFill>
                  <a:srgbClr val="405348"/>
                </a:solidFill>
                <a:latin typeface="Book Antiqua"/>
                <a:cs typeface="Book Antiqua"/>
              </a:rPr>
              <a:t>Segura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3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Implementar</a:t>
            </a:r>
            <a:r>
              <a:rPr sz="1300" spc="1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3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3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seguro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que</a:t>
            </a:r>
            <a:r>
              <a:rPr sz="13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valide</a:t>
            </a:r>
            <a:r>
              <a:rPr sz="130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comprobantes,</a:t>
            </a:r>
            <a:r>
              <a:rPr sz="13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detecte</a:t>
            </a:r>
            <a:r>
              <a:rPr sz="13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duplicados</a:t>
            </a:r>
            <a:r>
              <a:rPr sz="13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3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registre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transacciones</a:t>
            </a:r>
            <a:r>
              <a:rPr sz="13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sin</a:t>
            </a:r>
            <a:r>
              <a:rPr sz="13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errores.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88506" y="4973192"/>
            <a:ext cx="508634" cy="1184910"/>
            <a:chOff x="6588506" y="4973192"/>
            <a:chExt cx="508634" cy="1184910"/>
          </a:xfrm>
        </p:grpSpPr>
        <p:sp>
          <p:nvSpPr>
            <p:cNvPr id="13" name="object 13"/>
            <p:cNvSpPr/>
            <p:nvPr/>
          </p:nvSpPr>
          <p:spPr>
            <a:xfrm>
              <a:off x="6588506" y="4973192"/>
              <a:ext cx="508634" cy="1184910"/>
            </a:xfrm>
            <a:custGeom>
              <a:avLst/>
              <a:gdLst/>
              <a:ahLst/>
              <a:cxnLst/>
              <a:rect l="l" t="t" r="r" b="b"/>
              <a:pathLst>
                <a:path w="508634" h="1184910">
                  <a:moveTo>
                    <a:pt x="508635" y="254381"/>
                  </a:moveTo>
                  <a:lnTo>
                    <a:pt x="504532" y="208673"/>
                  </a:lnTo>
                  <a:lnTo>
                    <a:pt x="492709" y="165633"/>
                  </a:lnTo>
                  <a:lnTo>
                    <a:pt x="473887" y="126009"/>
                  </a:lnTo>
                  <a:lnTo>
                    <a:pt x="448792" y="90500"/>
                  </a:lnTo>
                  <a:lnTo>
                    <a:pt x="418134" y="59842"/>
                  </a:lnTo>
                  <a:lnTo>
                    <a:pt x="382625" y="34747"/>
                  </a:lnTo>
                  <a:lnTo>
                    <a:pt x="343001" y="15925"/>
                  </a:lnTo>
                  <a:lnTo>
                    <a:pt x="299961" y="4102"/>
                  </a:lnTo>
                  <a:lnTo>
                    <a:pt x="254254" y="0"/>
                  </a:lnTo>
                  <a:lnTo>
                    <a:pt x="208534" y="4102"/>
                  </a:lnTo>
                  <a:lnTo>
                    <a:pt x="165519" y="15925"/>
                  </a:lnTo>
                  <a:lnTo>
                    <a:pt x="125907" y="34747"/>
                  </a:lnTo>
                  <a:lnTo>
                    <a:pt x="90424" y="59842"/>
                  </a:lnTo>
                  <a:lnTo>
                    <a:pt x="59778" y="90500"/>
                  </a:lnTo>
                  <a:lnTo>
                    <a:pt x="34696" y="126009"/>
                  </a:lnTo>
                  <a:lnTo>
                    <a:pt x="15900" y="165633"/>
                  </a:lnTo>
                  <a:lnTo>
                    <a:pt x="4089" y="208673"/>
                  </a:lnTo>
                  <a:lnTo>
                    <a:pt x="0" y="254381"/>
                  </a:lnTo>
                  <a:lnTo>
                    <a:pt x="4089" y="300101"/>
                  </a:lnTo>
                  <a:lnTo>
                    <a:pt x="15900" y="343115"/>
                  </a:lnTo>
                  <a:lnTo>
                    <a:pt x="34696" y="382727"/>
                  </a:lnTo>
                  <a:lnTo>
                    <a:pt x="59778" y="418211"/>
                  </a:lnTo>
                  <a:lnTo>
                    <a:pt x="90424" y="448856"/>
                  </a:lnTo>
                  <a:lnTo>
                    <a:pt x="125907" y="473938"/>
                  </a:lnTo>
                  <a:lnTo>
                    <a:pt x="165519" y="492734"/>
                  </a:lnTo>
                  <a:lnTo>
                    <a:pt x="169545" y="493852"/>
                  </a:lnTo>
                  <a:lnTo>
                    <a:pt x="169545" y="1099693"/>
                  </a:lnTo>
                  <a:lnTo>
                    <a:pt x="176187" y="1132725"/>
                  </a:lnTo>
                  <a:lnTo>
                    <a:pt x="194322" y="1159687"/>
                  </a:lnTo>
                  <a:lnTo>
                    <a:pt x="221246" y="1177874"/>
                  </a:lnTo>
                  <a:lnTo>
                    <a:pt x="254254" y="1184529"/>
                  </a:lnTo>
                  <a:lnTo>
                    <a:pt x="287248" y="1177874"/>
                  </a:lnTo>
                  <a:lnTo>
                    <a:pt x="314172" y="1159687"/>
                  </a:lnTo>
                  <a:lnTo>
                    <a:pt x="332308" y="1132725"/>
                  </a:lnTo>
                  <a:lnTo>
                    <a:pt x="338963" y="1099693"/>
                  </a:lnTo>
                  <a:lnTo>
                    <a:pt x="338963" y="493852"/>
                  </a:lnTo>
                  <a:lnTo>
                    <a:pt x="343001" y="492734"/>
                  </a:lnTo>
                  <a:lnTo>
                    <a:pt x="382625" y="473938"/>
                  </a:lnTo>
                  <a:lnTo>
                    <a:pt x="418134" y="448856"/>
                  </a:lnTo>
                  <a:lnTo>
                    <a:pt x="448792" y="418211"/>
                  </a:lnTo>
                  <a:lnTo>
                    <a:pt x="473887" y="382727"/>
                  </a:lnTo>
                  <a:lnTo>
                    <a:pt x="492709" y="343115"/>
                  </a:lnTo>
                  <a:lnTo>
                    <a:pt x="504532" y="300101"/>
                  </a:lnTo>
                  <a:lnTo>
                    <a:pt x="508635" y="254381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2992" y="5105831"/>
              <a:ext cx="239682" cy="24352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254620" y="4997272"/>
            <a:ext cx="6483350" cy="96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405348"/>
                </a:solidFill>
                <a:latin typeface="Book Antiqua"/>
                <a:cs typeface="Book Antiqua"/>
              </a:rPr>
              <a:t>Rrportrs</a:t>
            </a:r>
            <a:r>
              <a:rPr sz="2000" b="1" i="1" spc="18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Imtrfigrmtrs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Diseñar</a:t>
            </a:r>
            <a:r>
              <a:rPr sz="13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módulos</a:t>
            </a:r>
            <a:r>
              <a:rPr sz="13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3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reportes</a:t>
            </a:r>
            <a:r>
              <a:rPr sz="13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administrativos</a:t>
            </a:r>
            <a:r>
              <a:rPr sz="13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3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financieros</a:t>
            </a:r>
            <a:r>
              <a:rPr sz="13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3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apoyar</a:t>
            </a:r>
            <a:r>
              <a:rPr sz="13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3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toma</a:t>
            </a:r>
            <a:r>
              <a:rPr sz="13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decisiones</a:t>
            </a:r>
            <a:r>
              <a:rPr sz="1300" spc="1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gerenciales.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42759" y="6443853"/>
            <a:ext cx="508634" cy="1184910"/>
            <a:chOff x="6842759" y="6443853"/>
            <a:chExt cx="508634" cy="1184910"/>
          </a:xfrm>
        </p:grpSpPr>
        <p:sp>
          <p:nvSpPr>
            <p:cNvPr id="17" name="object 17"/>
            <p:cNvSpPr/>
            <p:nvPr/>
          </p:nvSpPr>
          <p:spPr>
            <a:xfrm>
              <a:off x="6842760" y="6443853"/>
              <a:ext cx="508634" cy="1184910"/>
            </a:xfrm>
            <a:custGeom>
              <a:avLst/>
              <a:gdLst/>
              <a:ahLst/>
              <a:cxnLst/>
              <a:rect l="l" t="t" r="r" b="b"/>
              <a:pathLst>
                <a:path w="508634" h="1184909">
                  <a:moveTo>
                    <a:pt x="508635" y="254381"/>
                  </a:moveTo>
                  <a:lnTo>
                    <a:pt x="504532" y="208673"/>
                  </a:lnTo>
                  <a:lnTo>
                    <a:pt x="492709" y="165633"/>
                  </a:lnTo>
                  <a:lnTo>
                    <a:pt x="473900" y="126009"/>
                  </a:lnTo>
                  <a:lnTo>
                    <a:pt x="448805" y="90500"/>
                  </a:lnTo>
                  <a:lnTo>
                    <a:pt x="418147" y="59842"/>
                  </a:lnTo>
                  <a:lnTo>
                    <a:pt x="382663" y="34747"/>
                  </a:lnTo>
                  <a:lnTo>
                    <a:pt x="343052" y="15925"/>
                  </a:lnTo>
                  <a:lnTo>
                    <a:pt x="300050" y="4102"/>
                  </a:lnTo>
                  <a:lnTo>
                    <a:pt x="254381" y="0"/>
                  </a:lnTo>
                  <a:lnTo>
                    <a:pt x="208661" y="4102"/>
                  </a:lnTo>
                  <a:lnTo>
                    <a:pt x="165620" y="15925"/>
                  </a:lnTo>
                  <a:lnTo>
                    <a:pt x="125996" y="34747"/>
                  </a:lnTo>
                  <a:lnTo>
                    <a:pt x="90487" y="59842"/>
                  </a:lnTo>
                  <a:lnTo>
                    <a:pt x="59829" y="90500"/>
                  </a:lnTo>
                  <a:lnTo>
                    <a:pt x="34734" y="126009"/>
                  </a:lnTo>
                  <a:lnTo>
                    <a:pt x="15913" y="165633"/>
                  </a:lnTo>
                  <a:lnTo>
                    <a:pt x="4089" y="208673"/>
                  </a:lnTo>
                  <a:lnTo>
                    <a:pt x="0" y="254381"/>
                  </a:lnTo>
                  <a:lnTo>
                    <a:pt x="4089" y="300101"/>
                  </a:lnTo>
                  <a:lnTo>
                    <a:pt x="15913" y="343115"/>
                  </a:lnTo>
                  <a:lnTo>
                    <a:pt x="34734" y="382727"/>
                  </a:lnTo>
                  <a:lnTo>
                    <a:pt x="59829" y="418211"/>
                  </a:lnTo>
                  <a:lnTo>
                    <a:pt x="90487" y="448856"/>
                  </a:lnTo>
                  <a:lnTo>
                    <a:pt x="125996" y="473938"/>
                  </a:lnTo>
                  <a:lnTo>
                    <a:pt x="165620" y="492734"/>
                  </a:lnTo>
                  <a:lnTo>
                    <a:pt x="169545" y="493814"/>
                  </a:lnTo>
                  <a:lnTo>
                    <a:pt x="169545" y="1099705"/>
                  </a:lnTo>
                  <a:lnTo>
                    <a:pt x="176199" y="1132713"/>
                  </a:lnTo>
                  <a:lnTo>
                    <a:pt x="194360" y="1159662"/>
                  </a:lnTo>
                  <a:lnTo>
                    <a:pt x="221297" y="1177823"/>
                  </a:lnTo>
                  <a:lnTo>
                    <a:pt x="254254" y="1184478"/>
                  </a:lnTo>
                  <a:lnTo>
                    <a:pt x="287274" y="1177823"/>
                  </a:lnTo>
                  <a:lnTo>
                    <a:pt x="314236" y="1159662"/>
                  </a:lnTo>
                  <a:lnTo>
                    <a:pt x="332422" y="1132713"/>
                  </a:lnTo>
                  <a:lnTo>
                    <a:pt x="339090" y="1099705"/>
                  </a:lnTo>
                  <a:lnTo>
                    <a:pt x="339090" y="493826"/>
                  </a:lnTo>
                  <a:lnTo>
                    <a:pt x="343052" y="492734"/>
                  </a:lnTo>
                  <a:lnTo>
                    <a:pt x="382663" y="473938"/>
                  </a:lnTo>
                  <a:lnTo>
                    <a:pt x="418147" y="448856"/>
                  </a:lnTo>
                  <a:lnTo>
                    <a:pt x="448805" y="418211"/>
                  </a:lnTo>
                  <a:lnTo>
                    <a:pt x="473900" y="382727"/>
                  </a:lnTo>
                  <a:lnTo>
                    <a:pt x="492709" y="343115"/>
                  </a:lnTo>
                  <a:lnTo>
                    <a:pt x="504532" y="300101"/>
                  </a:lnTo>
                  <a:lnTo>
                    <a:pt x="508635" y="254381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86174" y="6581562"/>
              <a:ext cx="221759" cy="23854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508875" y="6468617"/>
            <a:ext cx="6212205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100" dirty="0">
                <a:solidFill>
                  <a:srgbClr val="405348"/>
                </a:solidFill>
                <a:latin typeface="Book Antiqua"/>
                <a:cs typeface="Book Antiqua"/>
              </a:rPr>
              <a:t>Notifiicaciomrs</a:t>
            </a:r>
            <a:r>
              <a:rPr sz="2000" b="1" i="1" spc="-4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Automatizadas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Desarrollar</a:t>
            </a:r>
            <a:r>
              <a:rPr sz="13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flujo</a:t>
            </a:r>
            <a:r>
              <a:rPr sz="13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automatizado</a:t>
            </a:r>
            <a:r>
              <a:rPr sz="13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notificaciones</a:t>
            </a:r>
            <a:r>
              <a:rPr sz="13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(vencimientos,</a:t>
            </a:r>
            <a:r>
              <a:rPr sz="13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morosidad,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</a:t>
            </a:r>
            <a:r>
              <a:rPr sz="13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confirmados)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para</a:t>
            </a:r>
            <a:r>
              <a:rPr sz="13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mejorar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3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comunicación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3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405348"/>
                </a:solidFill>
                <a:latin typeface="Microsoft Sans Serif"/>
                <a:cs typeface="Microsoft Sans Serif"/>
              </a:rPr>
              <a:t>los</a:t>
            </a:r>
            <a:r>
              <a:rPr sz="13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clientes.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90272" y="7621981"/>
            <a:ext cx="2546477" cy="6139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4755" y="7621981"/>
            <a:ext cx="1991995" cy="614045"/>
            <a:chOff x="12644755" y="7621981"/>
            <a:chExt cx="1991995" cy="614045"/>
          </a:xfrm>
        </p:grpSpPr>
        <p:sp>
          <p:nvSpPr>
            <p:cNvPr id="3" name="object 3"/>
            <p:cNvSpPr/>
            <p:nvPr/>
          </p:nvSpPr>
          <p:spPr>
            <a:xfrm>
              <a:off x="12651105" y="7628331"/>
              <a:ext cx="1979295" cy="601345"/>
            </a:xfrm>
            <a:custGeom>
              <a:avLst/>
              <a:gdLst/>
              <a:ahLst/>
              <a:cxnLst/>
              <a:rect l="l" t="t" r="r" b="b"/>
              <a:pathLst>
                <a:path w="1979294" h="601345">
                  <a:moveTo>
                    <a:pt x="989710" y="0"/>
                  </a:moveTo>
                  <a:lnTo>
                    <a:pt x="919029" y="754"/>
                  </a:lnTo>
                  <a:lnTo>
                    <a:pt x="849688" y="2985"/>
                  </a:lnTo>
                  <a:lnTo>
                    <a:pt x="781857" y="6640"/>
                  </a:lnTo>
                  <a:lnTo>
                    <a:pt x="715702" y="11670"/>
                  </a:lnTo>
                  <a:lnTo>
                    <a:pt x="651391" y="18022"/>
                  </a:lnTo>
                  <a:lnTo>
                    <a:pt x="589091" y="25647"/>
                  </a:lnTo>
                  <a:lnTo>
                    <a:pt x="528969" y="34493"/>
                  </a:lnTo>
                  <a:lnTo>
                    <a:pt x="471195" y="44510"/>
                  </a:lnTo>
                  <a:lnTo>
                    <a:pt x="415933" y="55646"/>
                  </a:lnTo>
                  <a:lnTo>
                    <a:pt x="363353" y="67851"/>
                  </a:lnTo>
                  <a:lnTo>
                    <a:pt x="313622" y="81074"/>
                  </a:lnTo>
                  <a:lnTo>
                    <a:pt x="266907" y="95265"/>
                  </a:lnTo>
                  <a:lnTo>
                    <a:pt x="223375" y="110371"/>
                  </a:lnTo>
                  <a:lnTo>
                    <a:pt x="183195" y="126343"/>
                  </a:lnTo>
                  <a:lnTo>
                    <a:pt x="146533" y="143129"/>
                  </a:lnTo>
                  <a:lnTo>
                    <a:pt x="84434" y="178941"/>
                  </a:lnTo>
                  <a:lnTo>
                    <a:pt x="38419" y="217400"/>
                  </a:lnTo>
                  <a:lnTo>
                    <a:pt x="9828" y="258100"/>
                  </a:lnTo>
                  <a:lnTo>
                    <a:pt x="0" y="300634"/>
                  </a:lnTo>
                  <a:lnTo>
                    <a:pt x="2484" y="322104"/>
                  </a:lnTo>
                  <a:lnTo>
                    <a:pt x="21862" y="363772"/>
                  </a:lnTo>
                  <a:lnTo>
                    <a:pt x="59332" y="403403"/>
                  </a:lnTo>
                  <a:lnTo>
                    <a:pt x="113557" y="440589"/>
                  </a:lnTo>
                  <a:lnTo>
                    <a:pt x="183195" y="474925"/>
                  </a:lnTo>
                  <a:lnTo>
                    <a:pt x="223375" y="490896"/>
                  </a:lnTo>
                  <a:lnTo>
                    <a:pt x="266907" y="506003"/>
                  </a:lnTo>
                  <a:lnTo>
                    <a:pt x="313622" y="520193"/>
                  </a:lnTo>
                  <a:lnTo>
                    <a:pt x="363353" y="533416"/>
                  </a:lnTo>
                  <a:lnTo>
                    <a:pt x="415933" y="545621"/>
                  </a:lnTo>
                  <a:lnTo>
                    <a:pt x="471195" y="556757"/>
                  </a:lnTo>
                  <a:lnTo>
                    <a:pt x="528969" y="566773"/>
                  </a:lnTo>
                  <a:lnTo>
                    <a:pt x="589091" y="575620"/>
                  </a:lnTo>
                  <a:lnTo>
                    <a:pt x="651391" y="583244"/>
                  </a:lnTo>
                  <a:lnTo>
                    <a:pt x="715702" y="589597"/>
                  </a:lnTo>
                  <a:lnTo>
                    <a:pt x="781857" y="594626"/>
                  </a:lnTo>
                  <a:lnTo>
                    <a:pt x="849688" y="598281"/>
                  </a:lnTo>
                  <a:lnTo>
                    <a:pt x="919029" y="600512"/>
                  </a:lnTo>
                  <a:lnTo>
                    <a:pt x="989710" y="601267"/>
                  </a:lnTo>
                  <a:lnTo>
                    <a:pt x="1060376" y="600512"/>
                  </a:lnTo>
                  <a:lnTo>
                    <a:pt x="1129702" y="598281"/>
                  </a:lnTo>
                  <a:lnTo>
                    <a:pt x="1197521" y="594626"/>
                  </a:lnTo>
                  <a:lnTo>
                    <a:pt x="1263664" y="589597"/>
                  </a:lnTo>
                  <a:lnTo>
                    <a:pt x="1327964" y="583244"/>
                  </a:lnTo>
                  <a:lnTo>
                    <a:pt x="1390255" y="575620"/>
                  </a:lnTo>
                  <a:lnTo>
                    <a:pt x="1450367" y="566773"/>
                  </a:lnTo>
                  <a:lnTo>
                    <a:pt x="1508135" y="556757"/>
                  </a:lnTo>
                  <a:lnTo>
                    <a:pt x="1563389" y="545621"/>
                  </a:lnTo>
                  <a:lnTo>
                    <a:pt x="1615964" y="533416"/>
                  </a:lnTo>
                  <a:lnTo>
                    <a:pt x="1665690" y="520193"/>
                  </a:lnTo>
                  <a:lnTo>
                    <a:pt x="1712401" y="506003"/>
                  </a:lnTo>
                  <a:lnTo>
                    <a:pt x="1755929" y="490896"/>
                  </a:lnTo>
                  <a:lnTo>
                    <a:pt x="1796107" y="474925"/>
                  </a:lnTo>
                  <a:lnTo>
                    <a:pt x="1832767" y="458139"/>
                  </a:lnTo>
                  <a:lnTo>
                    <a:pt x="1894862" y="422327"/>
                  </a:lnTo>
                  <a:lnTo>
                    <a:pt x="1940876" y="383867"/>
                  </a:lnTo>
                  <a:lnTo>
                    <a:pt x="1969466" y="343167"/>
                  </a:lnTo>
                  <a:lnTo>
                    <a:pt x="1979295" y="300634"/>
                  </a:lnTo>
                  <a:lnTo>
                    <a:pt x="1976810" y="279163"/>
                  </a:lnTo>
                  <a:lnTo>
                    <a:pt x="1957433" y="237496"/>
                  </a:lnTo>
                  <a:lnTo>
                    <a:pt x="1919963" y="197865"/>
                  </a:lnTo>
                  <a:lnTo>
                    <a:pt x="1865741" y="160678"/>
                  </a:lnTo>
                  <a:lnTo>
                    <a:pt x="1796107" y="126343"/>
                  </a:lnTo>
                  <a:lnTo>
                    <a:pt x="1755929" y="110371"/>
                  </a:lnTo>
                  <a:lnTo>
                    <a:pt x="1712401" y="95265"/>
                  </a:lnTo>
                  <a:lnTo>
                    <a:pt x="1665690" y="81074"/>
                  </a:lnTo>
                  <a:lnTo>
                    <a:pt x="1615964" y="67851"/>
                  </a:lnTo>
                  <a:lnTo>
                    <a:pt x="1563389" y="55646"/>
                  </a:lnTo>
                  <a:lnTo>
                    <a:pt x="1508135" y="44510"/>
                  </a:lnTo>
                  <a:lnTo>
                    <a:pt x="1450367" y="34493"/>
                  </a:lnTo>
                  <a:lnTo>
                    <a:pt x="1390255" y="25647"/>
                  </a:lnTo>
                  <a:lnTo>
                    <a:pt x="1327964" y="18022"/>
                  </a:lnTo>
                  <a:lnTo>
                    <a:pt x="1263664" y="11670"/>
                  </a:lnTo>
                  <a:lnTo>
                    <a:pt x="1197521" y="6640"/>
                  </a:lnTo>
                  <a:lnTo>
                    <a:pt x="1129702" y="2985"/>
                  </a:lnTo>
                  <a:lnTo>
                    <a:pt x="1060376" y="754"/>
                  </a:lnTo>
                  <a:lnTo>
                    <a:pt x="9897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51105" y="7628331"/>
              <a:ext cx="1979295" cy="601345"/>
            </a:xfrm>
            <a:custGeom>
              <a:avLst/>
              <a:gdLst/>
              <a:ahLst/>
              <a:cxnLst/>
              <a:rect l="l" t="t" r="r" b="b"/>
              <a:pathLst>
                <a:path w="1979294" h="601345">
                  <a:moveTo>
                    <a:pt x="0" y="300634"/>
                  </a:moveTo>
                  <a:lnTo>
                    <a:pt x="9828" y="258100"/>
                  </a:lnTo>
                  <a:lnTo>
                    <a:pt x="38419" y="217400"/>
                  </a:lnTo>
                  <a:lnTo>
                    <a:pt x="84434" y="178941"/>
                  </a:lnTo>
                  <a:lnTo>
                    <a:pt x="146533" y="143129"/>
                  </a:lnTo>
                  <a:lnTo>
                    <a:pt x="183195" y="126343"/>
                  </a:lnTo>
                  <a:lnTo>
                    <a:pt x="223375" y="110371"/>
                  </a:lnTo>
                  <a:lnTo>
                    <a:pt x="266907" y="95265"/>
                  </a:lnTo>
                  <a:lnTo>
                    <a:pt x="313622" y="81074"/>
                  </a:lnTo>
                  <a:lnTo>
                    <a:pt x="363353" y="67851"/>
                  </a:lnTo>
                  <a:lnTo>
                    <a:pt x="415933" y="55646"/>
                  </a:lnTo>
                  <a:lnTo>
                    <a:pt x="471195" y="44510"/>
                  </a:lnTo>
                  <a:lnTo>
                    <a:pt x="528969" y="34493"/>
                  </a:lnTo>
                  <a:lnTo>
                    <a:pt x="589091" y="25647"/>
                  </a:lnTo>
                  <a:lnTo>
                    <a:pt x="651391" y="18022"/>
                  </a:lnTo>
                  <a:lnTo>
                    <a:pt x="715702" y="11670"/>
                  </a:lnTo>
                  <a:lnTo>
                    <a:pt x="781857" y="6640"/>
                  </a:lnTo>
                  <a:lnTo>
                    <a:pt x="849688" y="2985"/>
                  </a:lnTo>
                  <a:lnTo>
                    <a:pt x="919029" y="754"/>
                  </a:lnTo>
                  <a:lnTo>
                    <a:pt x="989710" y="0"/>
                  </a:lnTo>
                  <a:lnTo>
                    <a:pt x="1060376" y="754"/>
                  </a:lnTo>
                  <a:lnTo>
                    <a:pt x="1129702" y="2985"/>
                  </a:lnTo>
                  <a:lnTo>
                    <a:pt x="1197521" y="6640"/>
                  </a:lnTo>
                  <a:lnTo>
                    <a:pt x="1263664" y="11670"/>
                  </a:lnTo>
                  <a:lnTo>
                    <a:pt x="1327964" y="18022"/>
                  </a:lnTo>
                  <a:lnTo>
                    <a:pt x="1390255" y="25647"/>
                  </a:lnTo>
                  <a:lnTo>
                    <a:pt x="1450367" y="34493"/>
                  </a:lnTo>
                  <a:lnTo>
                    <a:pt x="1508135" y="44510"/>
                  </a:lnTo>
                  <a:lnTo>
                    <a:pt x="1563389" y="55646"/>
                  </a:lnTo>
                  <a:lnTo>
                    <a:pt x="1615964" y="67851"/>
                  </a:lnTo>
                  <a:lnTo>
                    <a:pt x="1665690" y="81074"/>
                  </a:lnTo>
                  <a:lnTo>
                    <a:pt x="1712401" y="95265"/>
                  </a:lnTo>
                  <a:lnTo>
                    <a:pt x="1755929" y="110371"/>
                  </a:lnTo>
                  <a:lnTo>
                    <a:pt x="1796107" y="126343"/>
                  </a:lnTo>
                  <a:lnTo>
                    <a:pt x="1832767" y="143129"/>
                  </a:lnTo>
                  <a:lnTo>
                    <a:pt x="1894862" y="178941"/>
                  </a:lnTo>
                  <a:lnTo>
                    <a:pt x="1940876" y="217400"/>
                  </a:lnTo>
                  <a:lnTo>
                    <a:pt x="1969466" y="258100"/>
                  </a:lnTo>
                  <a:lnTo>
                    <a:pt x="1979295" y="300634"/>
                  </a:lnTo>
                  <a:lnTo>
                    <a:pt x="1976810" y="322104"/>
                  </a:lnTo>
                  <a:lnTo>
                    <a:pt x="1957433" y="363772"/>
                  </a:lnTo>
                  <a:lnTo>
                    <a:pt x="1919963" y="403403"/>
                  </a:lnTo>
                  <a:lnTo>
                    <a:pt x="1865741" y="440589"/>
                  </a:lnTo>
                  <a:lnTo>
                    <a:pt x="1796107" y="474925"/>
                  </a:lnTo>
                  <a:lnTo>
                    <a:pt x="1755929" y="490896"/>
                  </a:lnTo>
                  <a:lnTo>
                    <a:pt x="1712401" y="506003"/>
                  </a:lnTo>
                  <a:lnTo>
                    <a:pt x="1665690" y="520193"/>
                  </a:lnTo>
                  <a:lnTo>
                    <a:pt x="1615964" y="533416"/>
                  </a:lnTo>
                  <a:lnTo>
                    <a:pt x="1563389" y="545621"/>
                  </a:lnTo>
                  <a:lnTo>
                    <a:pt x="1508135" y="556757"/>
                  </a:lnTo>
                  <a:lnTo>
                    <a:pt x="1450367" y="566773"/>
                  </a:lnTo>
                  <a:lnTo>
                    <a:pt x="1390255" y="575620"/>
                  </a:lnTo>
                  <a:lnTo>
                    <a:pt x="1327964" y="583244"/>
                  </a:lnTo>
                  <a:lnTo>
                    <a:pt x="1263664" y="589597"/>
                  </a:lnTo>
                  <a:lnTo>
                    <a:pt x="1197521" y="594626"/>
                  </a:lnTo>
                  <a:lnTo>
                    <a:pt x="1129702" y="598281"/>
                  </a:lnTo>
                  <a:lnTo>
                    <a:pt x="1060376" y="600512"/>
                  </a:lnTo>
                  <a:lnTo>
                    <a:pt x="989710" y="601267"/>
                  </a:lnTo>
                  <a:lnTo>
                    <a:pt x="919029" y="600512"/>
                  </a:lnTo>
                  <a:lnTo>
                    <a:pt x="849688" y="598281"/>
                  </a:lnTo>
                  <a:lnTo>
                    <a:pt x="781857" y="594626"/>
                  </a:lnTo>
                  <a:lnTo>
                    <a:pt x="715702" y="589597"/>
                  </a:lnTo>
                  <a:lnTo>
                    <a:pt x="651391" y="583244"/>
                  </a:lnTo>
                  <a:lnTo>
                    <a:pt x="589091" y="575620"/>
                  </a:lnTo>
                  <a:lnTo>
                    <a:pt x="528969" y="566773"/>
                  </a:lnTo>
                  <a:lnTo>
                    <a:pt x="471195" y="556757"/>
                  </a:lnTo>
                  <a:lnTo>
                    <a:pt x="415933" y="545621"/>
                  </a:lnTo>
                  <a:lnTo>
                    <a:pt x="363353" y="533416"/>
                  </a:lnTo>
                  <a:lnTo>
                    <a:pt x="313622" y="520193"/>
                  </a:lnTo>
                  <a:lnTo>
                    <a:pt x="266907" y="506003"/>
                  </a:lnTo>
                  <a:lnTo>
                    <a:pt x="223375" y="490896"/>
                  </a:lnTo>
                  <a:lnTo>
                    <a:pt x="183195" y="474925"/>
                  </a:lnTo>
                  <a:lnTo>
                    <a:pt x="146533" y="458139"/>
                  </a:lnTo>
                  <a:lnTo>
                    <a:pt x="84434" y="422327"/>
                  </a:lnTo>
                  <a:lnTo>
                    <a:pt x="38419" y="383867"/>
                  </a:lnTo>
                  <a:lnTo>
                    <a:pt x="9828" y="343167"/>
                  </a:lnTo>
                  <a:lnTo>
                    <a:pt x="0" y="30063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304" y="700277"/>
            <a:ext cx="1083056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-165" dirty="0"/>
              <a:t>Afcamcr </a:t>
            </a:r>
            <a:r>
              <a:rPr sz="4450" spc="105" dirty="0"/>
              <a:t>drf</a:t>
            </a:r>
            <a:r>
              <a:rPr sz="4450" spc="-125" dirty="0"/>
              <a:t> </a:t>
            </a:r>
            <a:r>
              <a:rPr sz="4450" dirty="0"/>
              <a:t>Sistrma</a:t>
            </a:r>
            <a:r>
              <a:rPr sz="4450" spc="-160" dirty="0"/>
              <a:t> </a:t>
            </a:r>
            <a:r>
              <a:rPr sz="4450" spc="-45" dirty="0"/>
              <a:t>PagoSrguroAGROTAC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781304" y="1948052"/>
            <a:ext cx="112502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7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7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ofrecerá</a:t>
            </a:r>
            <a:r>
              <a:rPr sz="17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conjunto</a:t>
            </a:r>
            <a:r>
              <a:rPr sz="175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integral</a:t>
            </a:r>
            <a:r>
              <a:rPr sz="17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funcionalidades</a:t>
            </a:r>
            <a:r>
              <a:rPr sz="1750" spc="-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una</a:t>
            </a:r>
            <a:r>
              <a:rPr sz="175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gestión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</a:t>
            </a: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robusta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eficiente.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4013" y="2537012"/>
            <a:ext cx="467359" cy="543560"/>
            <a:chOff x="844013" y="2537012"/>
            <a:chExt cx="467359" cy="543560"/>
          </a:xfrm>
        </p:grpSpPr>
        <p:sp>
          <p:nvSpPr>
            <p:cNvPr id="8" name="object 8"/>
            <p:cNvSpPr/>
            <p:nvPr/>
          </p:nvSpPr>
          <p:spPr>
            <a:xfrm>
              <a:off x="855577" y="3037185"/>
              <a:ext cx="443865" cy="31750"/>
            </a:xfrm>
            <a:custGeom>
              <a:avLst/>
              <a:gdLst/>
              <a:ahLst/>
              <a:cxnLst/>
              <a:rect l="l" t="t" r="r" b="b"/>
              <a:pathLst>
                <a:path w="443865" h="31750">
                  <a:moveTo>
                    <a:pt x="0" y="10984"/>
                  </a:moveTo>
                  <a:lnTo>
                    <a:pt x="18127" y="31452"/>
                  </a:lnTo>
                  <a:lnTo>
                    <a:pt x="34328" y="31646"/>
                  </a:lnTo>
                </a:path>
                <a:path w="443865" h="31750">
                  <a:moveTo>
                    <a:pt x="418017" y="31635"/>
                  </a:moveTo>
                  <a:lnTo>
                    <a:pt x="443598" y="6803"/>
                  </a:lnTo>
                  <a:lnTo>
                    <a:pt x="443644" y="0"/>
                  </a:lnTo>
                </a:path>
              </a:pathLst>
            </a:custGeom>
            <a:ln w="23046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615" y="2866107"/>
              <a:ext cx="182853" cy="1395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5536" y="2548535"/>
              <a:ext cx="443865" cy="520700"/>
            </a:xfrm>
            <a:custGeom>
              <a:avLst/>
              <a:gdLst/>
              <a:ahLst/>
              <a:cxnLst/>
              <a:rect l="l" t="t" r="r" b="b"/>
              <a:pathLst>
                <a:path w="443865" h="520700">
                  <a:moveTo>
                    <a:pt x="210313" y="348041"/>
                  </a:moveTo>
                  <a:lnTo>
                    <a:pt x="168384" y="340123"/>
                  </a:lnTo>
                  <a:lnTo>
                    <a:pt x="152457" y="334997"/>
                  </a:lnTo>
                  <a:lnTo>
                    <a:pt x="140462" y="331616"/>
                  </a:lnTo>
                  <a:lnTo>
                    <a:pt x="131615" y="329625"/>
                  </a:lnTo>
                  <a:lnTo>
                    <a:pt x="125127" y="328668"/>
                  </a:lnTo>
                  <a:lnTo>
                    <a:pt x="118676" y="328852"/>
                  </a:lnTo>
                  <a:lnTo>
                    <a:pt x="81183" y="337097"/>
                  </a:lnTo>
                  <a:lnTo>
                    <a:pt x="47703" y="356849"/>
                  </a:lnTo>
                  <a:lnTo>
                    <a:pt x="20361" y="386273"/>
                  </a:lnTo>
                  <a:lnTo>
                    <a:pt x="16408" y="391996"/>
                  </a:lnTo>
                </a:path>
                <a:path w="443865" h="520700">
                  <a:moveTo>
                    <a:pt x="16297" y="391931"/>
                  </a:moveTo>
                  <a:lnTo>
                    <a:pt x="8457" y="408510"/>
                  </a:lnTo>
                  <a:lnTo>
                    <a:pt x="3122" y="425957"/>
                  </a:lnTo>
                  <a:lnTo>
                    <a:pt x="355" y="443991"/>
                  </a:lnTo>
                  <a:lnTo>
                    <a:pt x="221" y="462330"/>
                  </a:lnTo>
                </a:path>
                <a:path w="443865" h="520700">
                  <a:moveTo>
                    <a:pt x="366852" y="144926"/>
                  </a:moveTo>
                  <a:lnTo>
                    <a:pt x="359463" y="190737"/>
                  </a:lnTo>
                  <a:lnTo>
                    <a:pt x="338889" y="230522"/>
                  </a:lnTo>
                  <a:lnTo>
                    <a:pt x="307517" y="261895"/>
                  </a:lnTo>
                  <a:lnTo>
                    <a:pt x="267734" y="282469"/>
                  </a:lnTo>
                  <a:lnTo>
                    <a:pt x="221928" y="289858"/>
                  </a:lnTo>
                  <a:lnTo>
                    <a:pt x="176119" y="282469"/>
                  </a:lnTo>
                  <a:lnTo>
                    <a:pt x="136335" y="261895"/>
                  </a:lnTo>
                  <a:lnTo>
                    <a:pt x="104962" y="230522"/>
                  </a:lnTo>
                  <a:lnTo>
                    <a:pt x="84388" y="190737"/>
                  </a:lnTo>
                  <a:lnTo>
                    <a:pt x="76999" y="144926"/>
                  </a:lnTo>
                  <a:lnTo>
                    <a:pt x="84388" y="99123"/>
                  </a:lnTo>
                  <a:lnTo>
                    <a:pt x="104962" y="59340"/>
                  </a:lnTo>
                  <a:lnTo>
                    <a:pt x="136335" y="27966"/>
                  </a:lnTo>
                  <a:lnTo>
                    <a:pt x="176119" y="7389"/>
                  </a:lnTo>
                  <a:lnTo>
                    <a:pt x="221928" y="0"/>
                  </a:lnTo>
                  <a:lnTo>
                    <a:pt x="267734" y="7389"/>
                  </a:lnTo>
                  <a:lnTo>
                    <a:pt x="307517" y="27966"/>
                  </a:lnTo>
                  <a:lnTo>
                    <a:pt x="338889" y="59340"/>
                  </a:lnTo>
                  <a:lnTo>
                    <a:pt x="359463" y="99124"/>
                  </a:lnTo>
                  <a:lnTo>
                    <a:pt x="366852" y="144926"/>
                  </a:lnTo>
                  <a:close/>
                </a:path>
                <a:path w="443865" h="520700">
                  <a:moveTo>
                    <a:pt x="0" y="462344"/>
                  </a:moveTo>
                  <a:lnTo>
                    <a:pt x="41" y="499634"/>
                  </a:lnTo>
                </a:path>
                <a:path w="443865" h="520700">
                  <a:moveTo>
                    <a:pt x="283602" y="337136"/>
                  </a:moveTo>
                  <a:lnTo>
                    <a:pt x="266201" y="342987"/>
                  </a:lnTo>
                  <a:lnTo>
                    <a:pt x="246423" y="346803"/>
                  </a:lnTo>
                  <a:lnTo>
                    <a:pt x="226913" y="348511"/>
                  </a:lnTo>
                  <a:lnTo>
                    <a:pt x="210313" y="348041"/>
                  </a:lnTo>
                </a:path>
                <a:path w="443865" h="520700">
                  <a:moveTo>
                    <a:pt x="34370" y="520296"/>
                  </a:moveTo>
                  <a:lnTo>
                    <a:pt x="418059" y="520285"/>
                  </a:lnTo>
                </a:path>
                <a:path w="443865" h="520700">
                  <a:moveTo>
                    <a:pt x="443686" y="488649"/>
                  </a:moveTo>
                  <a:lnTo>
                    <a:pt x="443409" y="445566"/>
                  </a:lnTo>
                </a:path>
              </a:pathLst>
            </a:custGeom>
            <a:ln w="23046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1695" y="2635376"/>
            <a:ext cx="551815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Gestión</a:t>
            </a:r>
            <a:r>
              <a:rPr sz="2200" b="1" i="1" spc="-7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de</a:t>
            </a:r>
            <a:r>
              <a:rPr sz="22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Acceso</a:t>
            </a:r>
            <a:r>
              <a:rPr sz="2200" b="1" i="1" spc="-8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por</a:t>
            </a:r>
            <a:r>
              <a:rPr sz="2200" b="1" i="1" spc="-5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Roles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Registro</a:t>
            </a:r>
            <a:r>
              <a:rPr sz="175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e</a:t>
            </a:r>
            <a:r>
              <a:rPr sz="17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inicio</a:t>
            </a:r>
            <a:r>
              <a:rPr sz="17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sesión</a:t>
            </a:r>
            <a:r>
              <a:rPr sz="175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7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Gerentes,</a:t>
            </a:r>
            <a:r>
              <a:rPr sz="175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Asistentes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Clientes.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15045" y="2536702"/>
            <a:ext cx="451484" cy="544195"/>
            <a:chOff x="7515045" y="2536702"/>
            <a:chExt cx="451484" cy="544195"/>
          </a:xfrm>
        </p:grpSpPr>
        <p:sp>
          <p:nvSpPr>
            <p:cNvPr id="13" name="object 13"/>
            <p:cNvSpPr/>
            <p:nvPr/>
          </p:nvSpPr>
          <p:spPr>
            <a:xfrm>
              <a:off x="7526556" y="2549135"/>
              <a:ext cx="427990" cy="520065"/>
            </a:xfrm>
            <a:custGeom>
              <a:avLst/>
              <a:gdLst/>
              <a:ahLst/>
              <a:cxnLst/>
              <a:rect l="l" t="t" r="r" b="b"/>
              <a:pathLst>
                <a:path w="427990" h="520064">
                  <a:moveTo>
                    <a:pt x="385445" y="519235"/>
                  </a:moveTo>
                  <a:lnTo>
                    <a:pt x="413716" y="490293"/>
                  </a:lnTo>
                  <a:lnTo>
                    <a:pt x="427835" y="456827"/>
                  </a:lnTo>
                  <a:lnTo>
                    <a:pt x="427881" y="439297"/>
                  </a:lnTo>
                </a:path>
                <a:path w="427990" h="520064">
                  <a:moveTo>
                    <a:pt x="38799" y="0"/>
                  </a:moveTo>
                  <a:lnTo>
                    <a:pt x="3452" y="21571"/>
                  </a:lnTo>
                  <a:lnTo>
                    <a:pt x="269" y="41263"/>
                  </a:lnTo>
                  <a:lnTo>
                    <a:pt x="0" y="51163"/>
                  </a:lnTo>
                </a:path>
                <a:path w="427990" h="520064">
                  <a:moveTo>
                    <a:pt x="88" y="459260"/>
                  </a:moveTo>
                  <a:lnTo>
                    <a:pt x="25694" y="502166"/>
                  </a:lnTo>
                  <a:lnTo>
                    <a:pt x="43187" y="519479"/>
                  </a:lnTo>
                </a:path>
                <a:path w="427990" h="520064">
                  <a:moveTo>
                    <a:pt x="385445" y="519235"/>
                  </a:moveTo>
                  <a:lnTo>
                    <a:pt x="327887" y="462644"/>
                  </a:lnTo>
                  <a:lnTo>
                    <a:pt x="270780" y="519247"/>
                  </a:lnTo>
                  <a:lnTo>
                    <a:pt x="216540" y="464584"/>
                  </a:lnTo>
                </a:path>
                <a:path w="427990" h="520064">
                  <a:moveTo>
                    <a:pt x="208949" y="467557"/>
                  </a:moveTo>
                  <a:lnTo>
                    <a:pt x="216540" y="464584"/>
                  </a:lnTo>
                </a:path>
                <a:path w="427990" h="520064">
                  <a:moveTo>
                    <a:pt x="208949" y="467557"/>
                  </a:moveTo>
                  <a:lnTo>
                    <a:pt x="157304" y="519721"/>
                  </a:lnTo>
                  <a:lnTo>
                    <a:pt x="100511" y="462828"/>
                  </a:lnTo>
                  <a:lnTo>
                    <a:pt x="43187" y="519479"/>
                  </a:lnTo>
                </a:path>
                <a:path w="427990" h="520064">
                  <a:moveTo>
                    <a:pt x="427881" y="439297"/>
                  </a:moveTo>
                  <a:lnTo>
                    <a:pt x="427835" y="41161"/>
                  </a:lnTo>
                </a:path>
                <a:path w="427990" h="520064">
                  <a:moveTo>
                    <a:pt x="0" y="51163"/>
                  </a:moveTo>
                  <a:lnTo>
                    <a:pt x="88" y="459260"/>
                  </a:lnTo>
                </a:path>
                <a:path w="427990" h="520064">
                  <a:moveTo>
                    <a:pt x="92103" y="129545"/>
                  </a:moveTo>
                  <a:lnTo>
                    <a:pt x="331878" y="129628"/>
                  </a:lnTo>
                </a:path>
                <a:path w="427990" h="520064">
                  <a:moveTo>
                    <a:pt x="92362" y="234403"/>
                  </a:moveTo>
                  <a:lnTo>
                    <a:pt x="263433" y="234375"/>
                  </a:lnTo>
                </a:path>
                <a:path w="427990" h="520064">
                  <a:moveTo>
                    <a:pt x="91527" y="337901"/>
                  </a:moveTo>
                  <a:lnTo>
                    <a:pt x="282630" y="338030"/>
                  </a:lnTo>
                </a:path>
              </a:pathLst>
            </a:custGeom>
            <a:ln w="23022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4622" y="2536702"/>
              <a:ext cx="71141" cy="650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65355" y="2549043"/>
              <a:ext cx="340995" cy="635"/>
            </a:xfrm>
            <a:custGeom>
              <a:avLst/>
              <a:gdLst/>
              <a:ahLst/>
              <a:cxnLst/>
              <a:rect l="l" t="t" r="r" b="b"/>
              <a:pathLst>
                <a:path w="340995" h="635">
                  <a:moveTo>
                    <a:pt x="340538" y="0"/>
                  </a:moveTo>
                  <a:lnTo>
                    <a:pt x="0" y="91"/>
                  </a:lnTo>
                </a:path>
              </a:pathLst>
            </a:custGeom>
            <a:ln w="23022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95513" y="2635376"/>
            <a:ext cx="408305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Validación</a:t>
            </a:r>
            <a:r>
              <a:rPr sz="2200" b="1" i="1" spc="-7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de</a:t>
            </a:r>
            <a:r>
              <a:rPr sz="22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Comprobantes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Registro</a:t>
            </a: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validación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automatizada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comprobantes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pago.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5702" y="4416088"/>
            <a:ext cx="543560" cy="394335"/>
            <a:chOff x="805702" y="4416088"/>
            <a:chExt cx="543560" cy="394335"/>
          </a:xfrm>
        </p:grpSpPr>
        <p:sp>
          <p:nvSpPr>
            <p:cNvPr id="18" name="object 18"/>
            <p:cNvSpPr/>
            <p:nvPr/>
          </p:nvSpPr>
          <p:spPr>
            <a:xfrm>
              <a:off x="1169084" y="4727039"/>
              <a:ext cx="94615" cy="4445"/>
            </a:xfrm>
            <a:custGeom>
              <a:avLst/>
              <a:gdLst/>
              <a:ahLst/>
              <a:cxnLst/>
              <a:rect l="l" t="t" r="r" b="b"/>
              <a:pathLst>
                <a:path w="94615" h="4445">
                  <a:moveTo>
                    <a:pt x="0" y="0"/>
                  </a:moveTo>
                  <a:lnTo>
                    <a:pt x="4449" y="1500"/>
                  </a:lnTo>
                  <a:lnTo>
                    <a:pt x="11135" y="2673"/>
                  </a:lnTo>
                  <a:lnTo>
                    <a:pt x="21829" y="3479"/>
                  </a:lnTo>
                  <a:lnTo>
                    <a:pt x="38306" y="3881"/>
                  </a:lnTo>
                </a:path>
                <a:path w="94615" h="4445">
                  <a:moveTo>
                    <a:pt x="78935" y="3761"/>
                  </a:moveTo>
                  <a:lnTo>
                    <a:pt x="87319" y="3102"/>
                  </a:lnTo>
                  <a:lnTo>
                    <a:pt x="90960" y="2272"/>
                  </a:lnTo>
                  <a:lnTo>
                    <a:pt x="94233" y="1014"/>
                  </a:lnTo>
                </a:path>
              </a:pathLst>
            </a:custGeom>
            <a:ln w="23045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743" y="4719788"/>
              <a:ext cx="106854" cy="905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72351" y="4710745"/>
              <a:ext cx="65405" cy="88265"/>
            </a:xfrm>
            <a:custGeom>
              <a:avLst/>
              <a:gdLst/>
              <a:ahLst/>
              <a:cxnLst/>
              <a:rect l="l" t="t" r="r" b="b"/>
              <a:pathLst>
                <a:path w="65405" h="88264">
                  <a:moveTo>
                    <a:pt x="0" y="88112"/>
                  </a:moveTo>
                  <a:lnTo>
                    <a:pt x="42449" y="75178"/>
                  </a:lnTo>
                  <a:lnTo>
                    <a:pt x="63651" y="38930"/>
                  </a:lnTo>
                  <a:lnTo>
                    <a:pt x="65025" y="12005"/>
                  </a:lnTo>
                  <a:lnTo>
                    <a:pt x="65172" y="0"/>
                  </a:lnTo>
                </a:path>
              </a:pathLst>
            </a:custGeom>
            <a:ln w="23045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5155" y="4416089"/>
              <a:ext cx="113845" cy="9019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5744" y="4416088"/>
              <a:ext cx="92767" cy="10417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17224" y="4427611"/>
              <a:ext cx="520700" cy="371475"/>
            </a:xfrm>
            <a:custGeom>
              <a:avLst/>
              <a:gdLst/>
              <a:ahLst/>
              <a:cxnLst/>
              <a:rect l="l" t="t" r="r" b="b"/>
              <a:pathLst>
                <a:path w="520700" h="371475">
                  <a:moveTo>
                    <a:pt x="520252" y="162746"/>
                  </a:moveTo>
                  <a:lnTo>
                    <a:pt x="57" y="163382"/>
                  </a:lnTo>
                </a:path>
                <a:path w="520700" h="371475">
                  <a:moveTo>
                    <a:pt x="0" y="167397"/>
                  </a:moveTo>
                  <a:lnTo>
                    <a:pt x="41" y="303700"/>
                  </a:lnTo>
                </a:path>
                <a:path w="520700" h="371475">
                  <a:moveTo>
                    <a:pt x="520252" y="86508"/>
                  </a:moveTo>
                  <a:lnTo>
                    <a:pt x="55" y="86563"/>
                  </a:lnTo>
                </a:path>
                <a:path w="520700" h="371475">
                  <a:moveTo>
                    <a:pt x="353172" y="216749"/>
                  </a:moveTo>
                  <a:lnTo>
                    <a:pt x="446922" y="216570"/>
                  </a:lnTo>
                </a:path>
                <a:path w="520700" h="371475">
                  <a:moveTo>
                    <a:pt x="353172" y="216749"/>
                  </a:moveTo>
                  <a:lnTo>
                    <a:pt x="352463" y="217095"/>
                  </a:lnTo>
                  <a:lnTo>
                    <a:pt x="351684" y="217565"/>
                  </a:lnTo>
                  <a:lnTo>
                    <a:pt x="350840" y="218160"/>
                  </a:lnTo>
                </a:path>
                <a:path w="520700" h="371475">
                  <a:moveTo>
                    <a:pt x="350845" y="218160"/>
                  </a:moveTo>
                  <a:lnTo>
                    <a:pt x="348651" y="219796"/>
                  </a:lnTo>
                  <a:lnTo>
                    <a:pt x="346849" y="221893"/>
                  </a:lnTo>
                  <a:lnTo>
                    <a:pt x="345563" y="224309"/>
                  </a:lnTo>
                </a:path>
                <a:path w="520700" h="371475">
                  <a:moveTo>
                    <a:pt x="345567" y="224309"/>
                  </a:moveTo>
                  <a:lnTo>
                    <a:pt x="345397" y="291743"/>
                  </a:lnTo>
                  <a:lnTo>
                    <a:pt x="345835" y="292702"/>
                  </a:lnTo>
                  <a:lnTo>
                    <a:pt x="346337" y="293628"/>
                  </a:lnTo>
                  <a:lnTo>
                    <a:pt x="346904" y="294518"/>
                  </a:lnTo>
                </a:path>
                <a:path w="520700" h="371475">
                  <a:moveTo>
                    <a:pt x="346909" y="294518"/>
                  </a:moveTo>
                  <a:lnTo>
                    <a:pt x="347946" y="296044"/>
                  </a:lnTo>
                  <a:lnTo>
                    <a:pt x="349199" y="297413"/>
                  </a:lnTo>
                  <a:lnTo>
                    <a:pt x="350637" y="298579"/>
                  </a:lnTo>
                </a:path>
                <a:path w="520700" h="371475">
                  <a:moveTo>
                    <a:pt x="350637" y="298574"/>
                  </a:moveTo>
                  <a:lnTo>
                    <a:pt x="351859" y="299427"/>
                  </a:lnTo>
                </a:path>
                <a:path w="520700" h="371475">
                  <a:moveTo>
                    <a:pt x="446092" y="300441"/>
                  </a:moveTo>
                  <a:lnTo>
                    <a:pt x="454527" y="290517"/>
                  </a:lnTo>
                  <a:lnTo>
                    <a:pt x="454388" y="226134"/>
                  </a:lnTo>
                  <a:lnTo>
                    <a:pt x="453835" y="224802"/>
                  </a:lnTo>
                  <a:lnTo>
                    <a:pt x="453328" y="223829"/>
                  </a:lnTo>
                  <a:lnTo>
                    <a:pt x="452729" y="222889"/>
                  </a:lnTo>
                  <a:lnTo>
                    <a:pt x="452084" y="221990"/>
                  </a:lnTo>
                  <a:lnTo>
                    <a:pt x="446922" y="216570"/>
                  </a:lnTo>
                </a:path>
                <a:path w="520700" h="371475">
                  <a:moveTo>
                    <a:pt x="70436" y="279722"/>
                  </a:moveTo>
                  <a:lnTo>
                    <a:pt x="213756" y="279694"/>
                  </a:lnTo>
                </a:path>
                <a:path w="520700" h="371475">
                  <a:moveTo>
                    <a:pt x="390165" y="303308"/>
                  </a:moveTo>
                  <a:lnTo>
                    <a:pt x="430794" y="303188"/>
                  </a:lnTo>
                </a:path>
                <a:path w="520700" h="371475">
                  <a:moveTo>
                    <a:pt x="83849" y="371240"/>
                  </a:moveTo>
                  <a:lnTo>
                    <a:pt x="455126" y="371245"/>
                  </a:lnTo>
                </a:path>
                <a:path w="520700" h="371475">
                  <a:moveTo>
                    <a:pt x="520298" y="283133"/>
                  </a:moveTo>
                  <a:lnTo>
                    <a:pt x="520252" y="67149"/>
                  </a:lnTo>
                </a:path>
                <a:path w="520700" h="371475">
                  <a:moveTo>
                    <a:pt x="429453" y="0"/>
                  </a:moveTo>
                  <a:lnTo>
                    <a:pt x="69763" y="0"/>
                  </a:lnTo>
                </a:path>
                <a:path w="520700" h="371475">
                  <a:moveTo>
                    <a:pt x="41" y="81133"/>
                  </a:moveTo>
                  <a:lnTo>
                    <a:pt x="0" y="167397"/>
                  </a:lnTo>
                </a:path>
              </a:pathLst>
            </a:custGeom>
            <a:ln w="23045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31695" y="4439868"/>
            <a:ext cx="505714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Gestión</a:t>
            </a:r>
            <a:r>
              <a:rPr sz="2200" b="1" i="1" spc="-10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de</a:t>
            </a:r>
            <a:r>
              <a:rPr sz="2200" b="1" i="1" spc="-6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Créditos</a:t>
            </a:r>
            <a:r>
              <a:rPr sz="2200" b="1" i="1" spc="-10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20" dirty="0">
                <a:solidFill>
                  <a:srgbClr val="405348"/>
                </a:solidFill>
                <a:latin typeface="Book Antiqua"/>
                <a:cs typeface="Book Antiqua"/>
              </a:rPr>
              <a:t>y</a:t>
            </a:r>
            <a:r>
              <a:rPr sz="2200" b="1" i="1" spc="-5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Pagos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Otorgamiento,</a:t>
            </a:r>
            <a:r>
              <a:rPr sz="175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consulta,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seguimiento,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</a:t>
            </a: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línea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5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por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transferencia.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24049" y="4353078"/>
            <a:ext cx="433070" cy="520700"/>
          </a:xfrm>
          <a:custGeom>
            <a:avLst/>
            <a:gdLst/>
            <a:ahLst/>
            <a:cxnLst/>
            <a:rect l="l" t="t" r="r" b="b"/>
            <a:pathLst>
              <a:path w="433070" h="520700">
                <a:moveTo>
                  <a:pt x="362459" y="301012"/>
                </a:moveTo>
                <a:lnTo>
                  <a:pt x="338377" y="271393"/>
                </a:lnTo>
                <a:lnTo>
                  <a:pt x="332634" y="268595"/>
                </a:lnTo>
              </a:path>
              <a:path w="433070" h="520700">
                <a:moveTo>
                  <a:pt x="259515" y="238173"/>
                </a:moveTo>
                <a:lnTo>
                  <a:pt x="256630" y="237523"/>
                </a:lnTo>
                <a:lnTo>
                  <a:pt x="252398" y="237261"/>
                </a:lnTo>
                <a:lnTo>
                  <a:pt x="246826" y="237376"/>
                </a:lnTo>
              </a:path>
              <a:path w="433070" h="520700">
                <a:moveTo>
                  <a:pt x="313561" y="422805"/>
                </a:moveTo>
                <a:lnTo>
                  <a:pt x="334340" y="468514"/>
                </a:lnTo>
                <a:lnTo>
                  <a:pt x="360072" y="496794"/>
                </a:lnTo>
                <a:lnTo>
                  <a:pt x="371793" y="499047"/>
                </a:lnTo>
                <a:lnTo>
                  <a:pt x="377181" y="498805"/>
                </a:lnTo>
                <a:lnTo>
                  <a:pt x="407527" y="472655"/>
                </a:lnTo>
                <a:lnTo>
                  <a:pt x="418036" y="438177"/>
                </a:lnTo>
              </a:path>
              <a:path w="433070" h="520700">
                <a:moveTo>
                  <a:pt x="46892" y="266557"/>
                </a:moveTo>
                <a:lnTo>
                  <a:pt x="12721" y="291038"/>
                </a:lnTo>
                <a:lnTo>
                  <a:pt x="312" y="331539"/>
                </a:lnTo>
                <a:lnTo>
                  <a:pt x="93" y="339287"/>
                </a:lnTo>
                <a:lnTo>
                  <a:pt x="0" y="348157"/>
                </a:lnTo>
              </a:path>
              <a:path w="433070" h="520700">
                <a:moveTo>
                  <a:pt x="429006" y="400980"/>
                </a:moveTo>
                <a:lnTo>
                  <a:pt x="430277" y="394256"/>
                </a:lnTo>
                <a:lnTo>
                  <a:pt x="431333" y="387532"/>
                </a:lnTo>
                <a:lnTo>
                  <a:pt x="432182" y="380808"/>
                </a:lnTo>
                <a:lnTo>
                  <a:pt x="432831" y="374084"/>
                </a:lnTo>
              </a:path>
              <a:path w="433070" h="520700">
                <a:moveTo>
                  <a:pt x="432923" y="334670"/>
                </a:moveTo>
                <a:lnTo>
                  <a:pt x="412090" y="300787"/>
                </a:lnTo>
                <a:lnTo>
                  <a:pt x="373590" y="299358"/>
                </a:lnTo>
                <a:lnTo>
                  <a:pt x="362745" y="301626"/>
                </a:lnTo>
              </a:path>
              <a:path w="433070" h="520700">
                <a:moveTo>
                  <a:pt x="127837" y="235933"/>
                </a:moveTo>
                <a:lnTo>
                  <a:pt x="46892" y="266557"/>
                </a:lnTo>
              </a:path>
              <a:path w="433070" h="520700">
                <a:moveTo>
                  <a:pt x="187986" y="362183"/>
                </a:moveTo>
                <a:lnTo>
                  <a:pt x="127837" y="235933"/>
                </a:lnTo>
              </a:path>
              <a:path w="433070" h="520700">
                <a:moveTo>
                  <a:pt x="246826" y="237376"/>
                </a:moveTo>
                <a:lnTo>
                  <a:pt x="187986" y="362183"/>
                </a:lnTo>
              </a:path>
              <a:path w="433070" h="520700">
                <a:moveTo>
                  <a:pt x="363045" y="388276"/>
                </a:moveTo>
                <a:lnTo>
                  <a:pt x="348587" y="371971"/>
                </a:lnTo>
                <a:lnTo>
                  <a:pt x="341743" y="352078"/>
                </a:lnTo>
                <a:lnTo>
                  <a:pt x="342857" y="331068"/>
                </a:lnTo>
                <a:lnTo>
                  <a:pt x="352278" y="311416"/>
                </a:lnTo>
                <a:lnTo>
                  <a:pt x="354951" y="307871"/>
                </a:lnTo>
                <a:lnTo>
                  <a:pt x="358048" y="304663"/>
                </a:lnTo>
                <a:lnTo>
                  <a:pt x="361496" y="301865"/>
                </a:lnTo>
              </a:path>
              <a:path w="433070" h="520700">
                <a:moveTo>
                  <a:pt x="363266" y="422989"/>
                </a:moveTo>
                <a:lnTo>
                  <a:pt x="363492" y="387686"/>
                </a:lnTo>
                <a:lnTo>
                  <a:pt x="392912" y="390673"/>
                </a:lnTo>
              </a:path>
              <a:path w="433070" h="520700">
                <a:moveTo>
                  <a:pt x="310529" y="403791"/>
                </a:moveTo>
                <a:lnTo>
                  <a:pt x="312437" y="422091"/>
                </a:lnTo>
                <a:lnTo>
                  <a:pt x="312322" y="424073"/>
                </a:lnTo>
                <a:lnTo>
                  <a:pt x="312921" y="424100"/>
                </a:lnTo>
                <a:lnTo>
                  <a:pt x="312561" y="426635"/>
                </a:lnTo>
                <a:lnTo>
                  <a:pt x="313898" y="428567"/>
                </a:lnTo>
                <a:lnTo>
                  <a:pt x="313469" y="431581"/>
                </a:lnTo>
              </a:path>
              <a:path w="433070" h="520700">
                <a:moveTo>
                  <a:pt x="313197" y="425893"/>
                </a:moveTo>
                <a:lnTo>
                  <a:pt x="312566" y="425985"/>
                </a:lnTo>
              </a:path>
              <a:path w="433070" h="520700">
                <a:moveTo>
                  <a:pt x="312796" y="427696"/>
                </a:moveTo>
                <a:lnTo>
                  <a:pt x="313488" y="427686"/>
                </a:lnTo>
              </a:path>
              <a:path w="433070" h="520700">
                <a:moveTo>
                  <a:pt x="313797" y="429475"/>
                </a:moveTo>
                <a:lnTo>
                  <a:pt x="313068" y="429595"/>
                </a:lnTo>
              </a:path>
              <a:path w="433070" h="520700">
                <a:moveTo>
                  <a:pt x="313469" y="431581"/>
                </a:moveTo>
                <a:lnTo>
                  <a:pt x="313492" y="432328"/>
                </a:lnTo>
                <a:lnTo>
                  <a:pt x="313580" y="433065"/>
                </a:lnTo>
                <a:lnTo>
                  <a:pt x="313727" y="433794"/>
                </a:lnTo>
              </a:path>
              <a:path w="433070" h="520700">
                <a:moveTo>
                  <a:pt x="308980" y="419989"/>
                </a:moveTo>
                <a:lnTo>
                  <a:pt x="308436" y="519890"/>
                </a:lnTo>
                <a:lnTo>
                  <a:pt x="779" y="519207"/>
                </a:lnTo>
              </a:path>
              <a:path w="433070" h="520700">
                <a:moveTo>
                  <a:pt x="68878" y="370286"/>
                </a:moveTo>
                <a:lnTo>
                  <a:pt x="68915" y="520292"/>
                </a:lnTo>
              </a:path>
              <a:path w="433070" h="520700">
                <a:moveTo>
                  <a:pt x="354167" y="161428"/>
                </a:moveTo>
                <a:lnTo>
                  <a:pt x="351213" y="226051"/>
                </a:lnTo>
              </a:path>
              <a:path w="433070" h="520700">
                <a:moveTo>
                  <a:pt x="354167" y="161428"/>
                </a:moveTo>
                <a:lnTo>
                  <a:pt x="389285" y="147568"/>
                </a:lnTo>
                <a:lnTo>
                  <a:pt x="402502" y="148635"/>
                </a:lnTo>
                <a:lnTo>
                  <a:pt x="427346" y="225756"/>
                </a:lnTo>
                <a:lnTo>
                  <a:pt x="351213" y="226051"/>
                </a:lnTo>
              </a:path>
              <a:path w="433070" h="520700">
                <a:moveTo>
                  <a:pt x="389386" y="299183"/>
                </a:moveTo>
                <a:lnTo>
                  <a:pt x="389381" y="226456"/>
                </a:lnTo>
              </a:path>
              <a:path w="433070" h="520700">
                <a:moveTo>
                  <a:pt x="332634" y="268595"/>
                </a:moveTo>
                <a:lnTo>
                  <a:pt x="259515" y="238173"/>
                </a:lnTo>
              </a:path>
              <a:path w="433070" h="520700">
                <a:moveTo>
                  <a:pt x="418036" y="438177"/>
                </a:moveTo>
                <a:lnTo>
                  <a:pt x="429006" y="400980"/>
                </a:lnTo>
              </a:path>
              <a:path w="433070" h="520700">
                <a:moveTo>
                  <a:pt x="432831" y="374084"/>
                </a:moveTo>
                <a:lnTo>
                  <a:pt x="432923" y="334670"/>
                </a:lnTo>
              </a:path>
              <a:path w="433070" h="520700">
                <a:moveTo>
                  <a:pt x="287916" y="100087"/>
                </a:moveTo>
                <a:lnTo>
                  <a:pt x="280051" y="139047"/>
                </a:lnTo>
                <a:lnTo>
                  <a:pt x="258602" y="170860"/>
                </a:lnTo>
                <a:lnTo>
                  <a:pt x="226790" y="192309"/>
                </a:lnTo>
                <a:lnTo>
                  <a:pt x="187834" y="200174"/>
                </a:lnTo>
                <a:lnTo>
                  <a:pt x="148876" y="192309"/>
                </a:lnTo>
                <a:lnTo>
                  <a:pt x="117062" y="170860"/>
                </a:lnTo>
                <a:lnTo>
                  <a:pt x="95613" y="139046"/>
                </a:lnTo>
                <a:lnTo>
                  <a:pt x="87747" y="100087"/>
                </a:lnTo>
                <a:lnTo>
                  <a:pt x="95612" y="61125"/>
                </a:lnTo>
                <a:lnTo>
                  <a:pt x="117062" y="29311"/>
                </a:lnTo>
                <a:lnTo>
                  <a:pt x="148875" y="7864"/>
                </a:lnTo>
                <a:lnTo>
                  <a:pt x="187834" y="0"/>
                </a:lnTo>
                <a:lnTo>
                  <a:pt x="226790" y="7864"/>
                </a:lnTo>
                <a:lnTo>
                  <a:pt x="258602" y="29311"/>
                </a:lnTo>
                <a:lnTo>
                  <a:pt x="280051" y="61125"/>
                </a:lnTo>
                <a:lnTo>
                  <a:pt x="287916" y="100087"/>
                </a:lnTo>
                <a:close/>
              </a:path>
              <a:path w="433070" h="520700">
                <a:moveTo>
                  <a:pt x="0" y="348157"/>
                </a:moveTo>
                <a:lnTo>
                  <a:pt x="779" y="519207"/>
                </a:lnTo>
              </a:path>
            </a:pathLst>
          </a:custGeom>
          <a:ln w="23050">
            <a:solidFill>
              <a:srgbClr val="4388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295513" y="4439868"/>
            <a:ext cx="465963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Rrportrs</a:t>
            </a:r>
            <a:r>
              <a:rPr sz="2200" b="1" i="1" spc="24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Prrsomafizados</a:t>
            </a:r>
            <a:endParaRPr sz="22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Generación</a:t>
            </a:r>
            <a:r>
              <a:rPr sz="175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reportes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por</a:t>
            </a:r>
            <a:r>
              <a:rPr sz="175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cliente,</a:t>
            </a:r>
            <a:r>
              <a:rPr sz="17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fechas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5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morosidad.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55535" y="6145970"/>
            <a:ext cx="443865" cy="543560"/>
            <a:chOff x="855535" y="6145970"/>
            <a:chExt cx="443865" cy="543560"/>
          </a:xfrm>
        </p:grpSpPr>
        <p:sp>
          <p:nvSpPr>
            <p:cNvPr id="28" name="object 28"/>
            <p:cNvSpPr/>
            <p:nvPr/>
          </p:nvSpPr>
          <p:spPr>
            <a:xfrm>
              <a:off x="867059" y="6157494"/>
              <a:ext cx="421005" cy="520700"/>
            </a:xfrm>
            <a:custGeom>
              <a:avLst/>
              <a:gdLst/>
              <a:ahLst/>
              <a:cxnLst/>
              <a:rect l="l" t="t" r="r" b="b"/>
              <a:pathLst>
                <a:path w="421005" h="520700">
                  <a:moveTo>
                    <a:pt x="420548" y="500699"/>
                  </a:moveTo>
                  <a:lnTo>
                    <a:pt x="403356" y="520028"/>
                  </a:lnTo>
                  <a:lnTo>
                    <a:pt x="387823" y="520295"/>
                  </a:lnTo>
                </a:path>
                <a:path w="421005" h="520700">
                  <a:moveTo>
                    <a:pt x="17509" y="520286"/>
                  </a:moveTo>
                  <a:lnTo>
                    <a:pt x="115" y="504091"/>
                  </a:lnTo>
                  <a:lnTo>
                    <a:pt x="0" y="486299"/>
                  </a:lnTo>
                </a:path>
                <a:path w="421005" h="520700">
                  <a:moveTo>
                    <a:pt x="55" y="16962"/>
                  </a:moveTo>
                  <a:lnTo>
                    <a:pt x="25394" y="321"/>
                  </a:lnTo>
                  <a:lnTo>
                    <a:pt x="41269" y="0"/>
                  </a:lnTo>
                </a:path>
                <a:path w="421005" h="520700">
                  <a:moveTo>
                    <a:pt x="419488" y="129660"/>
                  </a:moveTo>
                  <a:lnTo>
                    <a:pt x="289792" y="0"/>
                  </a:lnTo>
                </a:path>
                <a:path w="421005" h="520700">
                  <a:moveTo>
                    <a:pt x="419488" y="129660"/>
                  </a:moveTo>
                  <a:lnTo>
                    <a:pt x="329937" y="129669"/>
                  </a:lnTo>
                </a:path>
                <a:path w="421005" h="520700">
                  <a:moveTo>
                    <a:pt x="136590" y="274868"/>
                  </a:moveTo>
                  <a:lnTo>
                    <a:pt x="210391" y="201538"/>
                  </a:lnTo>
                </a:path>
                <a:path w="421005" h="520700">
                  <a:moveTo>
                    <a:pt x="210327" y="418366"/>
                  </a:moveTo>
                  <a:lnTo>
                    <a:pt x="210391" y="201538"/>
                  </a:lnTo>
                </a:path>
                <a:path w="421005" h="520700">
                  <a:moveTo>
                    <a:pt x="420594" y="129660"/>
                  </a:moveTo>
                  <a:lnTo>
                    <a:pt x="420548" y="500699"/>
                  </a:lnTo>
                </a:path>
                <a:path w="421005" h="520700">
                  <a:moveTo>
                    <a:pt x="210391" y="200497"/>
                  </a:moveTo>
                  <a:lnTo>
                    <a:pt x="283782" y="273873"/>
                  </a:lnTo>
                </a:path>
              </a:pathLst>
            </a:custGeom>
            <a:ln w="23047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4023" y="6226035"/>
              <a:ext cx="64505" cy="7281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7059" y="6157494"/>
              <a:ext cx="387985" cy="520700"/>
            </a:xfrm>
            <a:custGeom>
              <a:avLst/>
              <a:gdLst/>
              <a:ahLst/>
              <a:cxnLst/>
              <a:rect l="l" t="t" r="r" b="b"/>
              <a:pathLst>
                <a:path w="387984" h="520700">
                  <a:moveTo>
                    <a:pt x="387823" y="520295"/>
                  </a:moveTo>
                  <a:lnTo>
                    <a:pt x="17509" y="520286"/>
                  </a:lnTo>
                </a:path>
                <a:path w="387984" h="520700">
                  <a:moveTo>
                    <a:pt x="289013" y="79833"/>
                  </a:moveTo>
                  <a:lnTo>
                    <a:pt x="288990" y="0"/>
                  </a:lnTo>
                </a:path>
                <a:path w="387984" h="520700">
                  <a:moveTo>
                    <a:pt x="0" y="486299"/>
                  </a:moveTo>
                  <a:lnTo>
                    <a:pt x="55" y="16962"/>
                  </a:lnTo>
                </a:path>
                <a:path w="387984" h="520700">
                  <a:moveTo>
                    <a:pt x="41269" y="0"/>
                  </a:moveTo>
                  <a:lnTo>
                    <a:pt x="288990" y="0"/>
                  </a:lnTo>
                </a:path>
              </a:pathLst>
            </a:custGeom>
            <a:ln w="23047">
              <a:solidFill>
                <a:srgbClr val="4388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631695" y="6245097"/>
            <a:ext cx="517017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Importación</a:t>
            </a:r>
            <a:r>
              <a:rPr sz="2200" b="1" i="1" spc="-5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de</a:t>
            </a:r>
            <a:r>
              <a:rPr sz="2200" b="1" i="1" spc="1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Datos</a:t>
            </a:r>
            <a:endParaRPr sz="2200">
              <a:latin typeface="Book Antiqua"/>
              <a:cs typeface="Book Antiqu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Funcionalidad</a:t>
            </a:r>
            <a:r>
              <a:rPr sz="175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importar</a:t>
            </a:r>
            <a:r>
              <a:rPr sz="175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datos</a:t>
            </a:r>
            <a:r>
              <a:rPr sz="1750" spc="-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desde</a:t>
            </a:r>
            <a:r>
              <a:rPr sz="175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Excel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o </a:t>
            </a:r>
            <a:r>
              <a:rPr sz="17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CSV.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504765" y="6157494"/>
            <a:ext cx="471805" cy="520700"/>
          </a:xfrm>
          <a:custGeom>
            <a:avLst/>
            <a:gdLst/>
            <a:ahLst/>
            <a:cxnLst/>
            <a:rect l="l" t="t" r="r" b="b"/>
            <a:pathLst>
              <a:path w="471804" h="520700">
                <a:moveTo>
                  <a:pt x="153469" y="432024"/>
                </a:moveTo>
                <a:lnTo>
                  <a:pt x="233529" y="431881"/>
                </a:lnTo>
              </a:path>
              <a:path w="471804" h="520700">
                <a:moveTo>
                  <a:pt x="404780" y="431895"/>
                </a:moveTo>
                <a:lnTo>
                  <a:pt x="449548" y="429678"/>
                </a:lnTo>
                <a:lnTo>
                  <a:pt x="471336" y="401454"/>
                </a:lnTo>
                <a:lnTo>
                  <a:pt x="471197" y="396730"/>
                </a:lnTo>
                <a:lnTo>
                  <a:pt x="470275" y="391922"/>
                </a:lnTo>
                <a:lnTo>
                  <a:pt x="468432" y="386603"/>
                </a:lnTo>
              </a:path>
              <a:path w="471804" h="520700">
                <a:moveTo>
                  <a:pt x="325135" y="431968"/>
                </a:moveTo>
                <a:lnTo>
                  <a:pt x="313885" y="472211"/>
                </a:lnTo>
                <a:lnTo>
                  <a:pt x="288192" y="502417"/>
                </a:lnTo>
                <a:lnTo>
                  <a:pt x="249956" y="519277"/>
                </a:lnTo>
                <a:lnTo>
                  <a:pt x="235460" y="520298"/>
                </a:lnTo>
                <a:lnTo>
                  <a:pt x="226777" y="519908"/>
                </a:lnTo>
                <a:lnTo>
                  <a:pt x="189226" y="506935"/>
                </a:lnTo>
                <a:lnTo>
                  <a:pt x="161478" y="479185"/>
                </a:lnTo>
                <a:lnTo>
                  <a:pt x="148551" y="445621"/>
                </a:lnTo>
                <a:lnTo>
                  <a:pt x="145896" y="432042"/>
                </a:lnTo>
              </a:path>
              <a:path w="471804" h="520700">
                <a:moveTo>
                  <a:pt x="468432" y="386603"/>
                </a:moveTo>
                <a:lnTo>
                  <a:pt x="466393" y="383119"/>
                </a:lnTo>
                <a:lnTo>
                  <a:pt x="462768" y="378058"/>
                </a:lnTo>
                <a:lnTo>
                  <a:pt x="456836" y="370692"/>
                </a:lnTo>
                <a:lnTo>
                  <a:pt x="447875" y="360293"/>
                </a:lnTo>
                <a:lnTo>
                  <a:pt x="439564" y="348994"/>
                </a:lnTo>
                <a:lnTo>
                  <a:pt x="419160" y="316587"/>
                </a:lnTo>
                <a:lnTo>
                  <a:pt x="403183" y="276448"/>
                </a:lnTo>
                <a:lnTo>
                  <a:pt x="398691" y="262183"/>
                </a:lnTo>
                <a:lnTo>
                  <a:pt x="394815" y="244221"/>
                </a:lnTo>
              </a:path>
              <a:path w="471804" h="520700">
                <a:moveTo>
                  <a:pt x="390773" y="179681"/>
                </a:moveTo>
                <a:lnTo>
                  <a:pt x="382425" y="135664"/>
                </a:lnTo>
                <a:lnTo>
                  <a:pt x="361256" y="95219"/>
                </a:lnTo>
                <a:lnTo>
                  <a:pt x="331755" y="65347"/>
                </a:lnTo>
                <a:lnTo>
                  <a:pt x="292070" y="43030"/>
                </a:lnTo>
                <a:lnTo>
                  <a:pt x="250766" y="34247"/>
                </a:lnTo>
                <a:lnTo>
                  <a:pt x="238598" y="34004"/>
                </a:lnTo>
                <a:lnTo>
                  <a:pt x="226110" y="34276"/>
                </a:lnTo>
                <a:lnTo>
                  <a:pt x="183795" y="41471"/>
                </a:lnTo>
                <a:lnTo>
                  <a:pt x="146845" y="59883"/>
                </a:lnTo>
                <a:lnTo>
                  <a:pt x="113409" y="90700"/>
                </a:lnTo>
                <a:lnTo>
                  <a:pt x="92453" y="125115"/>
                </a:lnTo>
                <a:lnTo>
                  <a:pt x="81225" y="166487"/>
                </a:lnTo>
                <a:lnTo>
                  <a:pt x="79096" y="215859"/>
                </a:lnTo>
                <a:lnTo>
                  <a:pt x="77562" y="228913"/>
                </a:lnTo>
                <a:lnTo>
                  <a:pt x="69644" y="269329"/>
                </a:lnTo>
                <a:lnTo>
                  <a:pt x="56041" y="306891"/>
                </a:lnTo>
                <a:lnTo>
                  <a:pt x="36820" y="341606"/>
                </a:lnTo>
                <a:lnTo>
                  <a:pt x="7314" y="378938"/>
                </a:lnTo>
                <a:lnTo>
                  <a:pt x="2963" y="386151"/>
                </a:lnTo>
                <a:lnTo>
                  <a:pt x="898" y="391941"/>
                </a:lnTo>
                <a:lnTo>
                  <a:pt x="179" y="395633"/>
                </a:lnTo>
                <a:lnTo>
                  <a:pt x="0" y="400062"/>
                </a:lnTo>
                <a:lnTo>
                  <a:pt x="917" y="408014"/>
                </a:lnTo>
                <a:lnTo>
                  <a:pt x="29406" y="431466"/>
                </a:lnTo>
                <a:lnTo>
                  <a:pt x="35218" y="431881"/>
                </a:lnTo>
              </a:path>
              <a:path w="471804" h="520700">
                <a:moveTo>
                  <a:pt x="235400" y="33509"/>
                </a:moveTo>
                <a:lnTo>
                  <a:pt x="235450" y="0"/>
                </a:lnTo>
              </a:path>
              <a:path w="471804" h="520700">
                <a:moveTo>
                  <a:pt x="394815" y="244221"/>
                </a:moveTo>
                <a:lnTo>
                  <a:pt x="390773" y="179681"/>
                </a:lnTo>
              </a:path>
              <a:path w="471804" h="520700">
                <a:moveTo>
                  <a:pt x="233529" y="431881"/>
                </a:moveTo>
                <a:lnTo>
                  <a:pt x="404780" y="431895"/>
                </a:lnTo>
              </a:path>
              <a:path w="471804" h="520700">
                <a:moveTo>
                  <a:pt x="35218" y="431881"/>
                </a:moveTo>
                <a:lnTo>
                  <a:pt x="153469" y="432024"/>
                </a:lnTo>
              </a:path>
            </a:pathLst>
          </a:custGeom>
          <a:ln w="23044">
            <a:solidFill>
              <a:srgbClr val="4388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295513" y="6245097"/>
            <a:ext cx="4993640" cy="1217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i="1" dirty="0">
                <a:solidFill>
                  <a:srgbClr val="405348"/>
                </a:solidFill>
                <a:latin typeface="Book Antiqua"/>
                <a:cs typeface="Book Antiqua"/>
              </a:rPr>
              <a:t>Afrrtas</a:t>
            </a:r>
            <a:r>
              <a:rPr sz="2200" b="1" i="1" spc="-10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20" dirty="0">
                <a:solidFill>
                  <a:srgbClr val="405348"/>
                </a:solidFill>
                <a:latin typeface="Book Antiqua"/>
                <a:cs typeface="Book Antiqua"/>
              </a:rPr>
              <a:t>y</a:t>
            </a:r>
            <a:r>
              <a:rPr sz="22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2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Crrtifiicados</a:t>
            </a:r>
            <a:endParaRPr sz="2200">
              <a:latin typeface="Book Antiqua"/>
              <a:cs typeface="Book Antiqua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Notificaciones</a:t>
            </a:r>
            <a:r>
              <a:rPr sz="1750" spc="-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automáticas</a:t>
            </a:r>
            <a:r>
              <a:rPr sz="1750" spc="-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por</a:t>
            </a:r>
            <a:r>
              <a:rPr sz="17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vencimientos</a:t>
            </a:r>
            <a:r>
              <a:rPr sz="17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y </a:t>
            </a:r>
            <a:r>
              <a:rPr sz="175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generación</a:t>
            </a:r>
            <a:r>
              <a:rPr sz="175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certificados</a:t>
            </a:r>
            <a:r>
              <a:rPr sz="175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75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5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PDF.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0272" y="7628329"/>
            <a:ext cx="2540127" cy="6012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spc="-20" dirty="0"/>
              <a:t>Tecnologías</a:t>
            </a:r>
            <a:r>
              <a:rPr sz="4050" spc="-210" dirty="0"/>
              <a:t> </a:t>
            </a:r>
            <a:r>
              <a:rPr sz="4050" spc="-20" dirty="0"/>
              <a:t>Clave</a:t>
            </a:r>
            <a:r>
              <a:rPr sz="4050" spc="-210" dirty="0"/>
              <a:t> </a:t>
            </a:r>
            <a:r>
              <a:rPr sz="4050" spc="50" dirty="0"/>
              <a:t>para</a:t>
            </a:r>
            <a:r>
              <a:rPr sz="4050" spc="-200" dirty="0"/>
              <a:t> </a:t>
            </a:r>
            <a:r>
              <a:rPr sz="4050" spc="-55" dirty="0"/>
              <a:t>PagoSeguroAGROTAC</a:t>
            </a:r>
            <a:endParaRPr sz="4050"/>
          </a:p>
        </p:txBody>
      </p:sp>
      <p:sp>
        <p:nvSpPr>
          <p:cNvPr id="4" name="object 4"/>
          <p:cNvSpPr txBox="1"/>
          <p:nvPr/>
        </p:nvSpPr>
        <p:spPr>
          <a:xfrm>
            <a:off x="711504" y="1777111"/>
            <a:ext cx="8498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Una</a:t>
            </a: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base</a:t>
            </a:r>
            <a:r>
              <a:rPr sz="16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conceptual</a:t>
            </a:r>
            <a:r>
              <a:rPr sz="16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sólida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6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herramientas</a:t>
            </a:r>
            <a:r>
              <a:rPr sz="16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modernas</a:t>
            </a: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garantiza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éxito</a:t>
            </a:r>
            <a:r>
              <a:rPr sz="16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6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proyecto.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4014" y="2307463"/>
            <a:ext cx="4256405" cy="2681605"/>
            <a:chOff x="724014" y="2307463"/>
            <a:chExt cx="4256405" cy="2681605"/>
          </a:xfrm>
        </p:grpSpPr>
        <p:sp>
          <p:nvSpPr>
            <p:cNvPr id="6" name="object 6"/>
            <p:cNvSpPr/>
            <p:nvPr/>
          </p:nvSpPr>
          <p:spPr>
            <a:xfrm>
              <a:off x="724014" y="2307463"/>
              <a:ext cx="4256405" cy="2681605"/>
            </a:xfrm>
            <a:custGeom>
              <a:avLst/>
              <a:gdLst/>
              <a:ahLst/>
              <a:cxnLst/>
              <a:rect l="l" t="t" r="r" b="b"/>
              <a:pathLst>
                <a:path w="4256405" h="2681604">
                  <a:moveTo>
                    <a:pt x="4070108" y="0"/>
                  </a:moveTo>
                  <a:lnTo>
                    <a:pt x="186207" y="0"/>
                  </a:lnTo>
                  <a:lnTo>
                    <a:pt x="136704" y="6647"/>
                  </a:lnTo>
                  <a:lnTo>
                    <a:pt x="92222" y="25409"/>
                  </a:lnTo>
                  <a:lnTo>
                    <a:pt x="54536" y="54514"/>
                  </a:lnTo>
                  <a:lnTo>
                    <a:pt x="25421" y="92192"/>
                  </a:lnTo>
                  <a:lnTo>
                    <a:pt x="6651" y="136671"/>
                  </a:lnTo>
                  <a:lnTo>
                    <a:pt x="0" y="186182"/>
                  </a:lnTo>
                  <a:lnTo>
                    <a:pt x="0" y="2495169"/>
                  </a:lnTo>
                  <a:lnTo>
                    <a:pt x="6651" y="2544679"/>
                  </a:lnTo>
                  <a:lnTo>
                    <a:pt x="25421" y="2589158"/>
                  </a:lnTo>
                  <a:lnTo>
                    <a:pt x="54536" y="2626836"/>
                  </a:lnTo>
                  <a:lnTo>
                    <a:pt x="92222" y="2655941"/>
                  </a:lnTo>
                  <a:lnTo>
                    <a:pt x="136704" y="2674703"/>
                  </a:lnTo>
                  <a:lnTo>
                    <a:pt x="186207" y="2681351"/>
                  </a:lnTo>
                  <a:lnTo>
                    <a:pt x="4070108" y="2681351"/>
                  </a:lnTo>
                  <a:lnTo>
                    <a:pt x="4119574" y="2674703"/>
                  </a:lnTo>
                  <a:lnTo>
                    <a:pt x="4164041" y="2655941"/>
                  </a:lnTo>
                  <a:lnTo>
                    <a:pt x="4201728" y="2626836"/>
                  </a:lnTo>
                  <a:lnTo>
                    <a:pt x="4230853" y="2589158"/>
                  </a:lnTo>
                  <a:lnTo>
                    <a:pt x="4249634" y="2544679"/>
                  </a:lnTo>
                  <a:lnTo>
                    <a:pt x="4256290" y="2495169"/>
                  </a:lnTo>
                  <a:lnTo>
                    <a:pt x="4256290" y="186182"/>
                  </a:lnTo>
                  <a:lnTo>
                    <a:pt x="4249634" y="136671"/>
                  </a:lnTo>
                  <a:lnTo>
                    <a:pt x="4230853" y="92192"/>
                  </a:lnTo>
                  <a:lnTo>
                    <a:pt x="4201728" y="54514"/>
                  </a:lnTo>
                  <a:lnTo>
                    <a:pt x="4164041" y="25409"/>
                  </a:lnTo>
                  <a:lnTo>
                    <a:pt x="4119574" y="6647"/>
                  </a:lnTo>
                  <a:lnTo>
                    <a:pt x="4070108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0833" y="2514219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30" h="621030">
                  <a:moveTo>
                    <a:pt x="310337" y="0"/>
                  </a:moveTo>
                  <a:lnTo>
                    <a:pt x="264476" y="3364"/>
                  </a:lnTo>
                  <a:lnTo>
                    <a:pt x="220706" y="13139"/>
                  </a:lnTo>
                  <a:lnTo>
                    <a:pt x="179504" y="28843"/>
                  </a:lnTo>
                  <a:lnTo>
                    <a:pt x="141353" y="49998"/>
                  </a:lnTo>
                  <a:lnTo>
                    <a:pt x="106731" y="76123"/>
                  </a:lnTo>
                  <a:lnTo>
                    <a:pt x="76118" y="106739"/>
                  </a:lnTo>
                  <a:lnTo>
                    <a:pt x="49996" y="141366"/>
                  </a:lnTo>
                  <a:lnTo>
                    <a:pt x="28842" y="179524"/>
                  </a:lnTo>
                  <a:lnTo>
                    <a:pt x="13138" y="220733"/>
                  </a:lnTo>
                  <a:lnTo>
                    <a:pt x="3364" y="264514"/>
                  </a:lnTo>
                  <a:lnTo>
                    <a:pt x="0" y="310388"/>
                  </a:lnTo>
                  <a:lnTo>
                    <a:pt x="3364" y="356229"/>
                  </a:lnTo>
                  <a:lnTo>
                    <a:pt x="13138" y="399984"/>
                  </a:lnTo>
                  <a:lnTo>
                    <a:pt x="28842" y="441173"/>
                  </a:lnTo>
                  <a:lnTo>
                    <a:pt x="49996" y="479315"/>
                  </a:lnTo>
                  <a:lnTo>
                    <a:pt x="76118" y="513930"/>
                  </a:lnTo>
                  <a:lnTo>
                    <a:pt x="106731" y="544537"/>
                  </a:lnTo>
                  <a:lnTo>
                    <a:pt x="141353" y="570656"/>
                  </a:lnTo>
                  <a:lnTo>
                    <a:pt x="179504" y="591807"/>
                  </a:lnTo>
                  <a:lnTo>
                    <a:pt x="220706" y="607510"/>
                  </a:lnTo>
                  <a:lnTo>
                    <a:pt x="264476" y="617284"/>
                  </a:lnTo>
                  <a:lnTo>
                    <a:pt x="310337" y="620648"/>
                  </a:lnTo>
                  <a:lnTo>
                    <a:pt x="356210" y="617284"/>
                  </a:lnTo>
                  <a:lnTo>
                    <a:pt x="399991" y="607510"/>
                  </a:lnTo>
                  <a:lnTo>
                    <a:pt x="441200" y="591807"/>
                  </a:lnTo>
                  <a:lnTo>
                    <a:pt x="479358" y="570656"/>
                  </a:lnTo>
                  <a:lnTo>
                    <a:pt x="513985" y="544537"/>
                  </a:lnTo>
                  <a:lnTo>
                    <a:pt x="544601" y="513930"/>
                  </a:lnTo>
                  <a:lnTo>
                    <a:pt x="570726" y="479315"/>
                  </a:lnTo>
                  <a:lnTo>
                    <a:pt x="591881" y="441173"/>
                  </a:lnTo>
                  <a:lnTo>
                    <a:pt x="607585" y="399984"/>
                  </a:lnTo>
                  <a:lnTo>
                    <a:pt x="617360" y="356229"/>
                  </a:lnTo>
                  <a:lnTo>
                    <a:pt x="620725" y="310388"/>
                  </a:lnTo>
                  <a:lnTo>
                    <a:pt x="617360" y="264514"/>
                  </a:lnTo>
                  <a:lnTo>
                    <a:pt x="607585" y="220733"/>
                  </a:lnTo>
                  <a:lnTo>
                    <a:pt x="591881" y="179524"/>
                  </a:lnTo>
                  <a:lnTo>
                    <a:pt x="570726" y="141366"/>
                  </a:lnTo>
                  <a:lnTo>
                    <a:pt x="544601" y="106739"/>
                  </a:lnTo>
                  <a:lnTo>
                    <a:pt x="513985" y="76123"/>
                  </a:lnTo>
                  <a:lnTo>
                    <a:pt x="479358" y="49998"/>
                  </a:lnTo>
                  <a:lnTo>
                    <a:pt x="441200" y="28843"/>
                  </a:lnTo>
                  <a:lnTo>
                    <a:pt x="399991" y="13139"/>
                  </a:lnTo>
                  <a:lnTo>
                    <a:pt x="356210" y="3364"/>
                  </a:lnTo>
                  <a:lnTo>
                    <a:pt x="310337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7429" y="2697344"/>
              <a:ext cx="267544" cy="2543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18159" y="3312921"/>
            <a:ext cx="3658870" cy="1108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30" dirty="0">
                <a:solidFill>
                  <a:srgbClr val="405348"/>
                </a:solidFill>
                <a:latin typeface="Book Antiqua"/>
                <a:cs typeface="Book Antiqua"/>
              </a:rPr>
              <a:t>Visuaf</a:t>
            </a:r>
            <a:r>
              <a:rPr sz="2000" b="1" i="1" spc="-9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Studio</a:t>
            </a:r>
            <a:r>
              <a:rPr sz="2000" b="1" i="1" spc="-9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Codr</a:t>
            </a:r>
            <a:endParaRPr sz="2000">
              <a:latin typeface="Book Antiqua"/>
              <a:cs typeface="Book Antiqua"/>
            </a:endParaRPr>
          </a:p>
          <a:p>
            <a:pPr marL="12700" marR="5080">
              <a:lnSpc>
                <a:spcPct val="135600"/>
              </a:lnSpc>
              <a:spcBef>
                <a:spcPts val="910"/>
              </a:spcBef>
            </a:pPr>
            <a:r>
              <a:rPr sz="16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IDE</a:t>
            </a:r>
            <a:r>
              <a:rPr sz="16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ligero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extensible</a:t>
            </a: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desarrollo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web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backend.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87060" y="2307463"/>
            <a:ext cx="4256405" cy="2681605"/>
            <a:chOff x="5187060" y="2307463"/>
            <a:chExt cx="4256405" cy="2681605"/>
          </a:xfrm>
        </p:grpSpPr>
        <p:sp>
          <p:nvSpPr>
            <p:cNvPr id="11" name="object 11"/>
            <p:cNvSpPr/>
            <p:nvPr/>
          </p:nvSpPr>
          <p:spPr>
            <a:xfrm>
              <a:off x="5187060" y="2307463"/>
              <a:ext cx="4256405" cy="2681605"/>
            </a:xfrm>
            <a:custGeom>
              <a:avLst/>
              <a:gdLst/>
              <a:ahLst/>
              <a:cxnLst/>
              <a:rect l="l" t="t" r="r" b="b"/>
              <a:pathLst>
                <a:path w="4256405" h="2681604">
                  <a:moveTo>
                    <a:pt x="4070095" y="0"/>
                  </a:moveTo>
                  <a:lnTo>
                    <a:pt x="186181" y="0"/>
                  </a:lnTo>
                  <a:lnTo>
                    <a:pt x="136716" y="6647"/>
                  </a:lnTo>
                  <a:lnTo>
                    <a:pt x="92249" y="25409"/>
                  </a:lnTo>
                  <a:lnTo>
                    <a:pt x="54562" y="54514"/>
                  </a:lnTo>
                  <a:lnTo>
                    <a:pt x="25437" y="92192"/>
                  </a:lnTo>
                  <a:lnTo>
                    <a:pt x="6656" y="136671"/>
                  </a:lnTo>
                  <a:lnTo>
                    <a:pt x="0" y="186182"/>
                  </a:lnTo>
                  <a:lnTo>
                    <a:pt x="0" y="2495169"/>
                  </a:lnTo>
                  <a:lnTo>
                    <a:pt x="6656" y="2544679"/>
                  </a:lnTo>
                  <a:lnTo>
                    <a:pt x="25437" y="2589158"/>
                  </a:lnTo>
                  <a:lnTo>
                    <a:pt x="54562" y="2626836"/>
                  </a:lnTo>
                  <a:lnTo>
                    <a:pt x="92249" y="2655941"/>
                  </a:lnTo>
                  <a:lnTo>
                    <a:pt x="136716" y="2674703"/>
                  </a:lnTo>
                  <a:lnTo>
                    <a:pt x="186181" y="2681351"/>
                  </a:lnTo>
                  <a:lnTo>
                    <a:pt x="4070095" y="2681351"/>
                  </a:lnTo>
                  <a:lnTo>
                    <a:pt x="4119561" y="2674703"/>
                  </a:lnTo>
                  <a:lnTo>
                    <a:pt x="4164028" y="2655941"/>
                  </a:lnTo>
                  <a:lnTo>
                    <a:pt x="4201715" y="2626836"/>
                  </a:lnTo>
                  <a:lnTo>
                    <a:pt x="4230840" y="2589158"/>
                  </a:lnTo>
                  <a:lnTo>
                    <a:pt x="4249621" y="2544679"/>
                  </a:lnTo>
                  <a:lnTo>
                    <a:pt x="4256278" y="2495169"/>
                  </a:lnTo>
                  <a:lnTo>
                    <a:pt x="4256278" y="186182"/>
                  </a:lnTo>
                  <a:lnTo>
                    <a:pt x="4249621" y="136671"/>
                  </a:lnTo>
                  <a:lnTo>
                    <a:pt x="4230840" y="92192"/>
                  </a:lnTo>
                  <a:lnTo>
                    <a:pt x="4201715" y="54514"/>
                  </a:lnTo>
                  <a:lnTo>
                    <a:pt x="4164028" y="25409"/>
                  </a:lnTo>
                  <a:lnTo>
                    <a:pt x="4119561" y="6647"/>
                  </a:lnTo>
                  <a:lnTo>
                    <a:pt x="4070095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93943" y="2514219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30">
                  <a:moveTo>
                    <a:pt x="310260" y="0"/>
                  </a:moveTo>
                  <a:lnTo>
                    <a:pt x="264419" y="3364"/>
                  </a:lnTo>
                  <a:lnTo>
                    <a:pt x="220664" y="13139"/>
                  </a:lnTo>
                  <a:lnTo>
                    <a:pt x="179475" y="28843"/>
                  </a:lnTo>
                  <a:lnTo>
                    <a:pt x="141333" y="49998"/>
                  </a:lnTo>
                  <a:lnTo>
                    <a:pt x="106718" y="76123"/>
                  </a:lnTo>
                  <a:lnTo>
                    <a:pt x="76111" y="106739"/>
                  </a:lnTo>
                  <a:lnTo>
                    <a:pt x="49992" y="141366"/>
                  </a:lnTo>
                  <a:lnTo>
                    <a:pt x="28841" y="179524"/>
                  </a:lnTo>
                  <a:lnTo>
                    <a:pt x="13138" y="220733"/>
                  </a:lnTo>
                  <a:lnTo>
                    <a:pt x="3364" y="264514"/>
                  </a:lnTo>
                  <a:lnTo>
                    <a:pt x="0" y="310388"/>
                  </a:lnTo>
                  <a:lnTo>
                    <a:pt x="3364" y="356229"/>
                  </a:lnTo>
                  <a:lnTo>
                    <a:pt x="13138" y="399984"/>
                  </a:lnTo>
                  <a:lnTo>
                    <a:pt x="28841" y="441173"/>
                  </a:lnTo>
                  <a:lnTo>
                    <a:pt x="49992" y="479315"/>
                  </a:lnTo>
                  <a:lnTo>
                    <a:pt x="76111" y="513930"/>
                  </a:lnTo>
                  <a:lnTo>
                    <a:pt x="106718" y="544537"/>
                  </a:lnTo>
                  <a:lnTo>
                    <a:pt x="141333" y="570656"/>
                  </a:lnTo>
                  <a:lnTo>
                    <a:pt x="179475" y="591807"/>
                  </a:lnTo>
                  <a:lnTo>
                    <a:pt x="220664" y="607510"/>
                  </a:lnTo>
                  <a:lnTo>
                    <a:pt x="264419" y="617284"/>
                  </a:lnTo>
                  <a:lnTo>
                    <a:pt x="310260" y="620648"/>
                  </a:lnTo>
                  <a:lnTo>
                    <a:pt x="356134" y="617284"/>
                  </a:lnTo>
                  <a:lnTo>
                    <a:pt x="399915" y="607510"/>
                  </a:lnTo>
                  <a:lnTo>
                    <a:pt x="441124" y="591807"/>
                  </a:lnTo>
                  <a:lnTo>
                    <a:pt x="479282" y="570656"/>
                  </a:lnTo>
                  <a:lnTo>
                    <a:pt x="513909" y="544537"/>
                  </a:lnTo>
                  <a:lnTo>
                    <a:pt x="544525" y="513930"/>
                  </a:lnTo>
                  <a:lnTo>
                    <a:pt x="570650" y="479315"/>
                  </a:lnTo>
                  <a:lnTo>
                    <a:pt x="591805" y="441173"/>
                  </a:lnTo>
                  <a:lnTo>
                    <a:pt x="607509" y="399984"/>
                  </a:lnTo>
                  <a:lnTo>
                    <a:pt x="617284" y="356229"/>
                  </a:lnTo>
                  <a:lnTo>
                    <a:pt x="620648" y="310388"/>
                  </a:lnTo>
                  <a:lnTo>
                    <a:pt x="617284" y="264514"/>
                  </a:lnTo>
                  <a:lnTo>
                    <a:pt x="607509" y="220733"/>
                  </a:lnTo>
                  <a:lnTo>
                    <a:pt x="591805" y="179524"/>
                  </a:lnTo>
                  <a:lnTo>
                    <a:pt x="570650" y="141366"/>
                  </a:lnTo>
                  <a:lnTo>
                    <a:pt x="544525" y="106739"/>
                  </a:lnTo>
                  <a:lnTo>
                    <a:pt x="513909" y="76123"/>
                  </a:lnTo>
                  <a:lnTo>
                    <a:pt x="479282" y="49998"/>
                  </a:lnTo>
                  <a:lnTo>
                    <a:pt x="441124" y="28843"/>
                  </a:lnTo>
                  <a:lnTo>
                    <a:pt x="399915" y="13139"/>
                  </a:lnTo>
                  <a:lnTo>
                    <a:pt x="356134" y="3364"/>
                  </a:lnTo>
                  <a:lnTo>
                    <a:pt x="310260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0499" y="2733968"/>
              <a:ext cx="267544" cy="18106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81625" y="3312921"/>
            <a:ext cx="3510279" cy="143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Dockrr</a:t>
            </a:r>
            <a:endParaRPr sz="2000">
              <a:latin typeface="Book Antiqua"/>
              <a:cs typeface="Book Antiqua"/>
            </a:endParaRPr>
          </a:p>
          <a:p>
            <a:pPr marL="12700" marR="5080">
              <a:lnSpc>
                <a:spcPct val="135600"/>
              </a:lnSpc>
              <a:spcBef>
                <a:spcPts val="910"/>
              </a:spcBef>
            </a:pPr>
            <a:r>
              <a:rPr sz="16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Contenedores</a:t>
            </a:r>
            <a:r>
              <a:rPr sz="16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reproducibles</a:t>
            </a:r>
            <a:r>
              <a:rPr sz="1600" spc="1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entornos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1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desarrollo</a:t>
            </a:r>
            <a:r>
              <a:rPr sz="1600" spc="1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producción </a:t>
            </a:r>
            <a:r>
              <a:rPr sz="16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consistentes.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50094" y="2307463"/>
            <a:ext cx="4256405" cy="2681605"/>
            <a:chOff x="9650094" y="2307463"/>
            <a:chExt cx="4256405" cy="2681605"/>
          </a:xfrm>
        </p:grpSpPr>
        <p:sp>
          <p:nvSpPr>
            <p:cNvPr id="16" name="object 16"/>
            <p:cNvSpPr/>
            <p:nvPr/>
          </p:nvSpPr>
          <p:spPr>
            <a:xfrm>
              <a:off x="9650094" y="2307463"/>
              <a:ext cx="4256405" cy="2681605"/>
            </a:xfrm>
            <a:custGeom>
              <a:avLst/>
              <a:gdLst/>
              <a:ahLst/>
              <a:cxnLst/>
              <a:rect l="l" t="t" r="r" b="b"/>
              <a:pathLst>
                <a:path w="4256405" h="2681604">
                  <a:moveTo>
                    <a:pt x="4070095" y="0"/>
                  </a:moveTo>
                  <a:lnTo>
                    <a:pt x="186181" y="0"/>
                  </a:lnTo>
                  <a:lnTo>
                    <a:pt x="136716" y="6647"/>
                  </a:lnTo>
                  <a:lnTo>
                    <a:pt x="92249" y="25409"/>
                  </a:lnTo>
                  <a:lnTo>
                    <a:pt x="54562" y="54514"/>
                  </a:lnTo>
                  <a:lnTo>
                    <a:pt x="25437" y="92192"/>
                  </a:lnTo>
                  <a:lnTo>
                    <a:pt x="6656" y="136671"/>
                  </a:lnTo>
                  <a:lnTo>
                    <a:pt x="0" y="186182"/>
                  </a:lnTo>
                  <a:lnTo>
                    <a:pt x="0" y="2495169"/>
                  </a:lnTo>
                  <a:lnTo>
                    <a:pt x="6656" y="2544679"/>
                  </a:lnTo>
                  <a:lnTo>
                    <a:pt x="25437" y="2589158"/>
                  </a:lnTo>
                  <a:lnTo>
                    <a:pt x="54562" y="2626836"/>
                  </a:lnTo>
                  <a:lnTo>
                    <a:pt x="92249" y="2655941"/>
                  </a:lnTo>
                  <a:lnTo>
                    <a:pt x="136716" y="2674703"/>
                  </a:lnTo>
                  <a:lnTo>
                    <a:pt x="186181" y="2681351"/>
                  </a:lnTo>
                  <a:lnTo>
                    <a:pt x="4070095" y="2681351"/>
                  </a:lnTo>
                  <a:lnTo>
                    <a:pt x="4119606" y="2674703"/>
                  </a:lnTo>
                  <a:lnTo>
                    <a:pt x="4164085" y="2655941"/>
                  </a:lnTo>
                  <a:lnTo>
                    <a:pt x="4201763" y="2626836"/>
                  </a:lnTo>
                  <a:lnTo>
                    <a:pt x="4230868" y="2589158"/>
                  </a:lnTo>
                  <a:lnTo>
                    <a:pt x="4249630" y="2544679"/>
                  </a:lnTo>
                  <a:lnTo>
                    <a:pt x="4256278" y="2495169"/>
                  </a:lnTo>
                  <a:lnTo>
                    <a:pt x="4256278" y="186182"/>
                  </a:lnTo>
                  <a:lnTo>
                    <a:pt x="4249630" y="136671"/>
                  </a:lnTo>
                  <a:lnTo>
                    <a:pt x="4230868" y="92192"/>
                  </a:lnTo>
                  <a:lnTo>
                    <a:pt x="4201763" y="54514"/>
                  </a:lnTo>
                  <a:lnTo>
                    <a:pt x="4164085" y="25409"/>
                  </a:lnTo>
                  <a:lnTo>
                    <a:pt x="4119606" y="6647"/>
                  </a:lnTo>
                  <a:lnTo>
                    <a:pt x="4070095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56977" y="2514219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30">
                  <a:moveTo>
                    <a:pt x="310261" y="0"/>
                  </a:moveTo>
                  <a:lnTo>
                    <a:pt x="264419" y="3364"/>
                  </a:lnTo>
                  <a:lnTo>
                    <a:pt x="220664" y="13139"/>
                  </a:lnTo>
                  <a:lnTo>
                    <a:pt x="179475" y="28843"/>
                  </a:lnTo>
                  <a:lnTo>
                    <a:pt x="141333" y="49998"/>
                  </a:lnTo>
                  <a:lnTo>
                    <a:pt x="106718" y="76123"/>
                  </a:lnTo>
                  <a:lnTo>
                    <a:pt x="76111" y="106739"/>
                  </a:lnTo>
                  <a:lnTo>
                    <a:pt x="49992" y="141366"/>
                  </a:lnTo>
                  <a:lnTo>
                    <a:pt x="28841" y="179524"/>
                  </a:lnTo>
                  <a:lnTo>
                    <a:pt x="13138" y="220733"/>
                  </a:lnTo>
                  <a:lnTo>
                    <a:pt x="3364" y="264514"/>
                  </a:lnTo>
                  <a:lnTo>
                    <a:pt x="0" y="310388"/>
                  </a:lnTo>
                  <a:lnTo>
                    <a:pt x="3364" y="356229"/>
                  </a:lnTo>
                  <a:lnTo>
                    <a:pt x="13138" y="399984"/>
                  </a:lnTo>
                  <a:lnTo>
                    <a:pt x="28841" y="441173"/>
                  </a:lnTo>
                  <a:lnTo>
                    <a:pt x="49992" y="479315"/>
                  </a:lnTo>
                  <a:lnTo>
                    <a:pt x="76111" y="513930"/>
                  </a:lnTo>
                  <a:lnTo>
                    <a:pt x="106718" y="544537"/>
                  </a:lnTo>
                  <a:lnTo>
                    <a:pt x="141333" y="570656"/>
                  </a:lnTo>
                  <a:lnTo>
                    <a:pt x="179475" y="591807"/>
                  </a:lnTo>
                  <a:lnTo>
                    <a:pt x="220664" y="607510"/>
                  </a:lnTo>
                  <a:lnTo>
                    <a:pt x="264419" y="617284"/>
                  </a:lnTo>
                  <a:lnTo>
                    <a:pt x="310261" y="620648"/>
                  </a:lnTo>
                  <a:lnTo>
                    <a:pt x="356134" y="617284"/>
                  </a:lnTo>
                  <a:lnTo>
                    <a:pt x="399915" y="607510"/>
                  </a:lnTo>
                  <a:lnTo>
                    <a:pt x="441124" y="591807"/>
                  </a:lnTo>
                  <a:lnTo>
                    <a:pt x="479282" y="570656"/>
                  </a:lnTo>
                  <a:lnTo>
                    <a:pt x="513909" y="544537"/>
                  </a:lnTo>
                  <a:lnTo>
                    <a:pt x="544525" y="513930"/>
                  </a:lnTo>
                  <a:lnTo>
                    <a:pt x="570650" y="479315"/>
                  </a:lnTo>
                  <a:lnTo>
                    <a:pt x="591805" y="441173"/>
                  </a:lnTo>
                  <a:lnTo>
                    <a:pt x="607509" y="399984"/>
                  </a:lnTo>
                  <a:lnTo>
                    <a:pt x="617284" y="356229"/>
                  </a:lnTo>
                  <a:lnTo>
                    <a:pt x="620649" y="310388"/>
                  </a:lnTo>
                  <a:lnTo>
                    <a:pt x="617284" y="264514"/>
                  </a:lnTo>
                  <a:lnTo>
                    <a:pt x="607509" y="220733"/>
                  </a:lnTo>
                  <a:lnTo>
                    <a:pt x="591805" y="179524"/>
                  </a:lnTo>
                  <a:lnTo>
                    <a:pt x="570650" y="141366"/>
                  </a:lnTo>
                  <a:lnTo>
                    <a:pt x="544525" y="106739"/>
                  </a:lnTo>
                  <a:lnTo>
                    <a:pt x="513909" y="76123"/>
                  </a:lnTo>
                  <a:lnTo>
                    <a:pt x="479282" y="49998"/>
                  </a:lnTo>
                  <a:lnTo>
                    <a:pt x="441124" y="28843"/>
                  </a:lnTo>
                  <a:lnTo>
                    <a:pt x="399915" y="13139"/>
                  </a:lnTo>
                  <a:lnTo>
                    <a:pt x="356134" y="3364"/>
                  </a:lnTo>
                  <a:lnTo>
                    <a:pt x="310261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1672" y="2690719"/>
              <a:ext cx="231450" cy="26756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845167" y="3312921"/>
            <a:ext cx="3242945" cy="143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75" dirty="0">
                <a:solidFill>
                  <a:srgbClr val="405348"/>
                </a:solidFill>
                <a:latin typeface="Book Antiqua"/>
                <a:cs typeface="Book Antiqua"/>
              </a:rPr>
              <a:t>Git</a:t>
            </a:r>
            <a:r>
              <a:rPr sz="2000" b="1" i="1" spc="-12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335" dirty="0">
                <a:solidFill>
                  <a:srgbClr val="405348"/>
                </a:solidFill>
                <a:latin typeface="Book Antiqua"/>
                <a:cs typeface="Book Antiqua"/>
              </a:rPr>
              <a:t>&amp;</a:t>
            </a:r>
            <a:r>
              <a:rPr sz="2000" b="1" i="1" spc="-10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GitHub/GitLab</a:t>
            </a:r>
            <a:endParaRPr sz="2000">
              <a:latin typeface="Book Antiqua"/>
              <a:cs typeface="Book Antiqua"/>
            </a:endParaRPr>
          </a:p>
          <a:p>
            <a:pPr marL="12700" marR="5080">
              <a:lnSpc>
                <a:spcPct val="135600"/>
              </a:lnSpc>
              <a:spcBef>
                <a:spcPts val="910"/>
              </a:spcBef>
            </a:pP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Control</a:t>
            </a:r>
            <a:r>
              <a:rPr sz="16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versiones</a:t>
            </a: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6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trabajo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colaborativo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despliegue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automatizado.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4014" y="5195696"/>
            <a:ext cx="6487795" cy="2350770"/>
            <a:chOff x="724014" y="5195696"/>
            <a:chExt cx="6487795" cy="2350770"/>
          </a:xfrm>
        </p:grpSpPr>
        <p:sp>
          <p:nvSpPr>
            <p:cNvPr id="21" name="object 21"/>
            <p:cNvSpPr/>
            <p:nvPr/>
          </p:nvSpPr>
          <p:spPr>
            <a:xfrm>
              <a:off x="724014" y="5195696"/>
              <a:ext cx="6487795" cy="2350770"/>
            </a:xfrm>
            <a:custGeom>
              <a:avLst/>
              <a:gdLst/>
              <a:ahLst/>
              <a:cxnLst/>
              <a:rect l="l" t="t" r="r" b="b"/>
              <a:pathLst>
                <a:path w="6487795" h="2350770">
                  <a:moveTo>
                    <a:pt x="6301498" y="0"/>
                  </a:moveTo>
                  <a:lnTo>
                    <a:pt x="186207" y="0"/>
                  </a:lnTo>
                  <a:lnTo>
                    <a:pt x="136708" y="6647"/>
                  </a:lnTo>
                  <a:lnTo>
                    <a:pt x="92228" y="25409"/>
                  </a:lnTo>
                  <a:lnTo>
                    <a:pt x="54541" y="54514"/>
                  </a:lnTo>
                  <a:lnTo>
                    <a:pt x="25424" y="92192"/>
                  </a:lnTo>
                  <a:lnTo>
                    <a:pt x="6652" y="136671"/>
                  </a:lnTo>
                  <a:lnTo>
                    <a:pt x="0" y="186181"/>
                  </a:lnTo>
                  <a:lnTo>
                    <a:pt x="0" y="2164156"/>
                  </a:lnTo>
                  <a:lnTo>
                    <a:pt x="6652" y="2213659"/>
                  </a:lnTo>
                  <a:lnTo>
                    <a:pt x="25424" y="2258140"/>
                  </a:lnTo>
                  <a:lnTo>
                    <a:pt x="54541" y="2295826"/>
                  </a:lnTo>
                  <a:lnTo>
                    <a:pt x="92228" y="2324941"/>
                  </a:lnTo>
                  <a:lnTo>
                    <a:pt x="136708" y="2343712"/>
                  </a:lnTo>
                  <a:lnTo>
                    <a:pt x="186207" y="2350363"/>
                  </a:lnTo>
                  <a:lnTo>
                    <a:pt x="6301498" y="2350363"/>
                  </a:lnTo>
                  <a:lnTo>
                    <a:pt x="6351008" y="2343712"/>
                  </a:lnTo>
                  <a:lnTo>
                    <a:pt x="6395488" y="2324941"/>
                  </a:lnTo>
                  <a:lnTo>
                    <a:pt x="6433165" y="2295826"/>
                  </a:lnTo>
                  <a:lnTo>
                    <a:pt x="6462271" y="2258140"/>
                  </a:lnTo>
                  <a:lnTo>
                    <a:pt x="6481033" y="2213659"/>
                  </a:lnTo>
                  <a:lnTo>
                    <a:pt x="6487680" y="2164156"/>
                  </a:lnTo>
                  <a:lnTo>
                    <a:pt x="6487680" y="186181"/>
                  </a:lnTo>
                  <a:lnTo>
                    <a:pt x="6481033" y="136671"/>
                  </a:lnTo>
                  <a:lnTo>
                    <a:pt x="6462271" y="92192"/>
                  </a:lnTo>
                  <a:lnTo>
                    <a:pt x="6433165" y="54514"/>
                  </a:lnTo>
                  <a:lnTo>
                    <a:pt x="6395488" y="25409"/>
                  </a:lnTo>
                  <a:lnTo>
                    <a:pt x="6351008" y="6647"/>
                  </a:lnTo>
                  <a:lnTo>
                    <a:pt x="6301498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30833" y="5402452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30" h="621029">
                  <a:moveTo>
                    <a:pt x="310337" y="0"/>
                  </a:moveTo>
                  <a:lnTo>
                    <a:pt x="264476" y="3364"/>
                  </a:lnTo>
                  <a:lnTo>
                    <a:pt x="220706" y="13139"/>
                  </a:lnTo>
                  <a:lnTo>
                    <a:pt x="179504" y="28843"/>
                  </a:lnTo>
                  <a:lnTo>
                    <a:pt x="141353" y="49998"/>
                  </a:lnTo>
                  <a:lnTo>
                    <a:pt x="106731" y="76123"/>
                  </a:lnTo>
                  <a:lnTo>
                    <a:pt x="76118" y="106739"/>
                  </a:lnTo>
                  <a:lnTo>
                    <a:pt x="49996" y="141366"/>
                  </a:lnTo>
                  <a:lnTo>
                    <a:pt x="28842" y="179524"/>
                  </a:lnTo>
                  <a:lnTo>
                    <a:pt x="13138" y="220733"/>
                  </a:lnTo>
                  <a:lnTo>
                    <a:pt x="3364" y="264514"/>
                  </a:lnTo>
                  <a:lnTo>
                    <a:pt x="0" y="310388"/>
                  </a:lnTo>
                  <a:lnTo>
                    <a:pt x="3364" y="356229"/>
                  </a:lnTo>
                  <a:lnTo>
                    <a:pt x="13138" y="399984"/>
                  </a:lnTo>
                  <a:lnTo>
                    <a:pt x="28842" y="441173"/>
                  </a:lnTo>
                  <a:lnTo>
                    <a:pt x="49996" y="479315"/>
                  </a:lnTo>
                  <a:lnTo>
                    <a:pt x="76118" y="513930"/>
                  </a:lnTo>
                  <a:lnTo>
                    <a:pt x="106731" y="544537"/>
                  </a:lnTo>
                  <a:lnTo>
                    <a:pt x="141353" y="570656"/>
                  </a:lnTo>
                  <a:lnTo>
                    <a:pt x="179504" y="591807"/>
                  </a:lnTo>
                  <a:lnTo>
                    <a:pt x="220706" y="607510"/>
                  </a:lnTo>
                  <a:lnTo>
                    <a:pt x="264476" y="617284"/>
                  </a:lnTo>
                  <a:lnTo>
                    <a:pt x="310337" y="620649"/>
                  </a:lnTo>
                  <a:lnTo>
                    <a:pt x="356210" y="617284"/>
                  </a:lnTo>
                  <a:lnTo>
                    <a:pt x="399991" y="607510"/>
                  </a:lnTo>
                  <a:lnTo>
                    <a:pt x="441200" y="591807"/>
                  </a:lnTo>
                  <a:lnTo>
                    <a:pt x="479358" y="570656"/>
                  </a:lnTo>
                  <a:lnTo>
                    <a:pt x="513985" y="544537"/>
                  </a:lnTo>
                  <a:lnTo>
                    <a:pt x="544601" y="513930"/>
                  </a:lnTo>
                  <a:lnTo>
                    <a:pt x="570726" y="479315"/>
                  </a:lnTo>
                  <a:lnTo>
                    <a:pt x="591881" y="441173"/>
                  </a:lnTo>
                  <a:lnTo>
                    <a:pt x="607585" y="399984"/>
                  </a:lnTo>
                  <a:lnTo>
                    <a:pt x="617360" y="356229"/>
                  </a:lnTo>
                  <a:lnTo>
                    <a:pt x="620725" y="310388"/>
                  </a:lnTo>
                  <a:lnTo>
                    <a:pt x="617360" y="264514"/>
                  </a:lnTo>
                  <a:lnTo>
                    <a:pt x="607585" y="220733"/>
                  </a:lnTo>
                  <a:lnTo>
                    <a:pt x="591881" y="179524"/>
                  </a:lnTo>
                  <a:lnTo>
                    <a:pt x="570726" y="141366"/>
                  </a:lnTo>
                  <a:lnTo>
                    <a:pt x="544601" y="106739"/>
                  </a:lnTo>
                  <a:lnTo>
                    <a:pt x="513985" y="76123"/>
                  </a:lnTo>
                  <a:lnTo>
                    <a:pt x="479358" y="49998"/>
                  </a:lnTo>
                  <a:lnTo>
                    <a:pt x="441200" y="28843"/>
                  </a:lnTo>
                  <a:lnTo>
                    <a:pt x="399991" y="13139"/>
                  </a:lnTo>
                  <a:lnTo>
                    <a:pt x="356210" y="3364"/>
                  </a:lnTo>
                  <a:lnTo>
                    <a:pt x="310337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5904" y="5578961"/>
              <a:ext cx="230592" cy="26747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18159" y="6201536"/>
            <a:ext cx="5354955" cy="110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PostgrrSQL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Base</a:t>
            </a:r>
            <a:r>
              <a:rPr sz="160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datos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robusta</a:t>
            </a:r>
            <a:r>
              <a:rPr sz="16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6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compatible</a:t>
            </a:r>
            <a:r>
              <a:rPr sz="16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6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ACID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6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alta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consistencia.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18578" y="5195696"/>
            <a:ext cx="6487795" cy="2350770"/>
            <a:chOff x="7418578" y="5195696"/>
            <a:chExt cx="6487795" cy="2350770"/>
          </a:xfrm>
        </p:grpSpPr>
        <p:sp>
          <p:nvSpPr>
            <p:cNvPr id="26" name="object 26"/>
            <p:cNvSpPr/>
            <p:nvPr/>
          </p:nvSpPr>
          <p:spPr>
            <a:xfrm>
              <a:off x="7418578" y="5195696"/>
              <a:ext cx="6487795" cy="2350770"/>
            </a:xfrm>
            <a:custGeom>
              <a:avLst/>
              <a:gdLst/>
              <a:ahLst/>
              <a:cxnLst/>
              <a:rect l="l" t="t" r="r" b="b"/>
              <a:pathLst>
                <a:path w="6487794" h="2350770">
                  <a:moveTo>
                    <a:pt x="6301612" y="0"/>
                  </a:moveTo>
                  <a:lnTo>
                    <a:pt x="186181" y="0"/>
                  </a:lnTo>
                  <a:lnTo>
                    <a:pt x="136671" y="6647"/>
                  </a:lnTo>
                  <a:lnTo>
                    <a:pt x="92192" y="25409"/>
                  </a:lnTo>
                  <a:lnTo>
                    <a:pt x="54514" y="54514"/>
                  </a:lnTo>
                  <a:lnTo>
                    <a:pt x="25409" y="92192"/>
                  </a:lnTo>
                  <a:lnTo>
                    <a:pt x="6647" y="136671"/>
                  </a:lnTo>
                  <a:lnTo>
                    <a:pt x="0" y="186181"/>
                  </a:lnTo>
                  <a:lnTo>
                    <a:pt x="0" y="2164206"/>
                  </a:lnTo>
                  <a:lnTo>
                    <a:pt x="6647" y="2213704"/>
                  </a:lnTo>
                  <a:lnTo>
                    <a:pt x="25409" y="2258182"/>
                  </a:lnTo>
                  <a:lnTo>
                    <a:pt x="54514" y="2295866"/>
                  </a:lnTo>
                  <a:lnTo>
                    <a:pt x="92192" y="2324980"/>
                  </a:lnTo>
                  <a:lnTo>
                    <a:pt x="136671" y="2343750"/>
                  </a:lnTo>
                  <a:lnTo>
                    <a:pt x="186181" y="2350401"/>
                  </a:lnTo>
                  <a:lnTo>
                    <a:pt x="6301612" y="2350401"/>
                  </a:lnTo>
                  <a:lnTo>
                    <a:pt x="6351123" y="2343750"/>
                  </a:lnTo>
                  <a:lnTo>
                    <a:pt x="6395602" y="2324980"/>
                  </a:lnTo>
                  <a:lnTo>
                    <a:pt x="6433280" y="2295866"/>
                  </a:lnTo>
                  <a:lnTo>
                    <a:pt x="6462385" y="2258182"/>
                  </a:lnTo>
                  <a:lnTo>
                    <a:pt x="6481147" y="2213704"/>
                  </a:lnTo>
                  <a:lnTo>
                    <a:pt x="6487795" y="2164206"/>
                  </a:lnTo>
                  <a:lnTo>
                    <a:pt x="6487795" y="186181"/>
                  </a:lnTo>
                  <a:lnTo>
                    <a:pt x="6481147" y="136671"/>
                  </a:lnTo>
                  <a:lnTo>
                    <a:pt x="6462385" y="92192"/>
                  </a:lnTo>
                  <a:lnTo>
                    <a:pt x="6433280" y="54514"/>
                  </a:lnTo>
                  <a:lnTo>
                    <a:pt x="6395602" y="25409"/>
                  </a:lnTo>
                  <a:lnTo>
                    <a:pt x="6351123" y="6647"/>
                  </a:lnTo>
                  <a:lnTo>
                    <a:pt x="6301612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25334" y="5402452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29">
                  <a:moveTo>
                    <a:pt x="310388" y="0"/>
                  </a:moveTo>
                  <a:lnTo>
                    <a:pt x="264514" y="3364"/>
                  </a:lnTo>
                  <a:lnTo>
                    <a:pt x="220733" y="13139"/>
                  </a:lnTo>
                  <a:lnTo>
                    <a:pt x="179524" y="28843"/>
                  </a:lnTo>
                  <a:lnTo>
                    <a:pt x="141366" y="49998"/>
                  </a:lnTo>
                  <a:lnTo>
                    <a:pt x="106739" y="76123"/>
                  </a:lnTo>
                  <a:lnTo>
                    <a:pt x="76123" y="106739"/>
                  </a:lnTo>
                  <a:lnTo>
                    <a:pt x="49998" y="141366"/>
                  </a:lnTo>
                  <a:lnTo>
                    <a:pt x="28843" y="179524"/>
                  </a:lnTo>
                  <a:lnTo>
                    <a:pt x="13139" y="220733"/>
                  </a:lnTo>
                  <a:lnTo>
                    <a:pt x="3364" y="264514"/>
                  </a:lnTo>
                  <a:lnTo>
                    <a:pt x="0" y="310388"/>
                  </a:lnTo>
                  <a:lnTo>
                    <a:pt x="3364" y="356229"/>
                  </a:lnTo>
                  <a:lnTo>
                    <a:pt x="13139" y="399984"/>
                  </a:lnTo>
                  <a:lnTo>
                    <a:pt x="28843" y="441173"/>
                  </a:lnTo>
                  <a:lnTo>
                    <a:pt x="49998" y="479315"/>
                  </a:lnTo>
                  <a:lnTo>
                    <a:pt x="76123" y="513930"/>
                  </a:lnTo>
                  <a:lnTo>
                    <a:pt x="106739" y="544537"/>
                  </a:lnTo>
                  <a:lnTo>
                    <a:pt x="141366" y="570656"/>
                  </a:lnTo>
                  <a:lnTo>
                    <a:pt x="179524" y="591807"/>
                  </a:lnTo>
                  <a:lnTo>
                    <a:pt x="220733" y="607510"/>
                  </a:lnTo>
                  <a:lnTo>
                    <a:pt x="264514" y="617284"/>
                  </a:lnTo>
                  <a:lnTo>
                    <a:pt x="310388" y="620649"/>
                  </a:lnTo>
                  <a:lnTo>
                    <a:pt x="356229" y="617284"/>
                  </a:lnTo>
                  <a:lnTo>
                    <a:pt x="399984" y="607510"/>
                  </a:lnTo>
                  <a:lnTo>
                    <a:pt x="441173" y="591807"/>
                  </a:lnTo>
                  <a:lnTo>
                    <a:pt x="479315" y="570656"/>
                  </a:lnTo>
                  <a:lnTo>
                    <a:pt x="513930" y="544537"/>
                  </a:lnTo>
                  <a:lnTo>
                    <a:pt x="544537" y="513930"/>
                  </a:lnTo>
                  <a:lnTo>
                    <a:pt x="570656" y="479315"/>
                  </a:lnTo>
                  <a:lnTo>
                    <a:pt x="591807" y="441173"/>
                  </a:lnTo>
                  <a:lnTo>
                    <a:pt x="607510" y="399984"/>
                  </a:lnTo>
                  <a:lnTo>
                    <a:pt x="617284" y="356229"/>
                  </a:lnTo>
                  <a:lnTo>
                    <a:pt x="620649" y="310388"/>
                  </a:lnTo>
                  <a:lnTo>
                    <a:pt x="617284" y="264514"/>
                  </a:lnTo>
                  <a:lnTo>
                    <a:pt x="607510" y="220733"/>
                  </a:lnTo>
                  <a:lnTo>
                    <a:pt x="591807" y="179524"/>
                  </a:lnTo>
                  <a:lnTo>
                    <a:pt x="570656" y="141366"/>
                  </a:lnTo>
                  <a:lnTo>
                    <a:pt x="544537" y="106739"/>
                  </a:lnTo>
                  <a:lnTo>
                    <a:pt x="513930" y="76123"/>
                  </a:lnTo>
                  <a:lnTo>
                    <a:pt x="479315" y="49998"/>
                  </a:lnTo>
                  <a:lnTo>
                    <a:pt x="441173" y="28843"/>
                  </a:lnTo>
                  <a:lnTo>
                    <a:pt x="399984" y="13139"/>
                  </a:lnTo>
                  <a:lnTo>
                    <a:pt x="356229" y="3364"/>
                  </a:lnTo>
                  <a:lnTo>
                    <a:pt x="310388" y="0"/>
                  </a:lnTo>
                  <a:close/>
                </a:path>
              </a:pathLst>
            </a:custGeom>
            <a:solidFill>
              <a:srgbClr val="4388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5869" y="5578951"/>
              <a:ext cx="259981" cy="26756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613395" y="6201536"/>
            <a:ext cx="5787390" cy="110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405348"/>
                </a:solidFill>
                <a:latin typeface="Book Antiqua"/>
                <a:cs typeface="Book Antiqua"/>
              </a:rPr>
              <a:t>Hrrramirmtas</a:t>
            </a:r>
            <a:r>
              <a:rPr sz="2000" b="1" i="1" spc="-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2000" b="1" i="1" spc="-25" dirty="0">
                <a:solidFill>
                  <a:srgbClr val="405348"/>
                </a:solidFill>
                <a:latin typeface="Book Antiqua"/>
                <a:cs typeface="Book Antiqua"/>
              </a:rPr>
              <a:t>OCR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Tesseract</a:t>
            </a:r>
            <a:r>
              <a:rPr sz="16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360" dirty="0">
                <a:solidFill>
                  <a:srgbClr val="405348"/>
                </a:solidFill>
                <a:latin typeface="Microsoft Sans Serif"/>
                <a:cs typeface="Microsoft Sans Serif"/>
              </a:rPr>
              <a:t>/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Vision</a:t>
            </a:r>
            <a:r>
              <a:rPr sz="16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APIs</a:t>
            </a: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6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reconocimiento</a:t>
            </a:r>
            <a:r>
              <a:rPr sz="16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automático</a:t>
            </a:r>
            <a:r>
              <a:rPr sz="16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6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comprobantes.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59" rIns="0" bIns="0" rtlCol="0">
            <a:spAutoFit/>
          </a:bodyPr>
          <a:lstStyle/>
          <a:p>
            <a:pPr marL="5461635">
              <a:lnSpc>
                <a:spcPct val="100000"/>
              </a:lnSpc>
              <a:spcBef>
                <a:spcPts val="105"/>
              </a:spcBef>
            </a:pPr>
            <a:r>
              <a:rPr sz="3850" dirty="0"/>
              <a:t>Priorización</a:t>
            </a:r>
            <a:r>
              <a:rPr sz="3850" spc="-135" dirty="0"/>
              <a:t> </a:t>
            </a:r>
            <a:r>
              <a:rPr sz="3850" spc="80" dirty="0"/>
              <a:t>de</a:t>
            </a:r>
            <a:r>
              <a:rPr sz="3850" spc="-114" dirty="0"/>
              <a:t> </a:t>
            </a:r>
            <a:r>
              <a:rPr sz="3850" spc="-30" dirty="0"/>
              <a:t>Requisitos</a:t>
            </a:r>
            <a:r>
              <a:rPr sz="3850" spc="-160" dirty="0"/>
              <a:t> </a:t>
            </a:r>
            <a:r>
              <a:rPr sz="3850" spc="-10" dirty="0"/>
              <a:t>Clave</a:t>
            </a:r>
            <a:endParaRPr sz="3850"/>
          </a:p>
        </p:txBody>
      </p:sp>
      <p:grpSp>
        <p:nvGrpSpPr>
          <p:cNvPr id="4" name="object 4"/>
          <p:cNvGrpSpPr/>
          <p:nvPr/>
        </p:nvGrpSpPr>
        <p:grpSpPr>
          <a:xfrm>
            <a:off x="6161404" y="2709926"/>
            <a:ext cx="7793990" cy="1963420"/>
            <a:chOff x="6161404" y="2709926"/>
            <a:chExt cx="7793990" cy="1963420"/>
          </a:xfrm>
        </p:grpSpPr>
        <p:sp>
          <p:nvSpPr>
            <p:cNvPr id="5" name="object 5"/>
            <p:cNvSpPr/>
            <p:nvPr/>
          </p:nvSpPr>
          <p:spPr>
            <a:xfrm>
              <a:off x="6172834" y="2721356"/>
              <a:ext cx="7771130" cy="1940560"/>
            </a:xfrm>
            <a:custGeom>
              <a:avLst/>
              <a:gdLst/>
              <a:ahLst/>
              <a:cxnLst/>
              <a:rect l="l" t="t" r="r" b="b"/>
              <a:pathLst>
                <a:path w="7771130" h="1940560">
                  <a:moveTo>
                    <a:pt x="7594600" y="0"/>
                  </a:moveTo>
                  <a:lnTo>
                    <a:pt x="176529" y="0"/>
                  </a:lnTo>
                  <a:lnTo>
                    <a:pt x="129587" y="6302"/>
                  </a:lnTo>
                  <a:lnTo>
                    <a:pt x="87413" y="24087"/>
                  </a:lnTo>
                  <a:lnTo>
                    <a:pt x="51688" y="51673"/>
                  </a:lnTo>
                  <a:lnTo>
                    <a:pt x="24092" y="87375"/>
                  </a:lnTo>
                  <a:lnTo>
                    <a:pt x="6302" y="129513"/>
                  </a:lnTo>
                  <a:lnTo>
                    <a:pt x="0" y="176403"/>
                  </a:lnTo>
                  <a:lnTo>
                    <a:pt x="0" y="1763649"/>
                  </a:lnTo>
                  <a:lnTo>
                    <a:pt x="6302" y="1810591"/>
                  </a:lnTo>
                  <a:lnTo>
                    <a:pt x="24092" y="1852765"/>
                  </a:lnTo>
                  <a:lnTo>
                    <a:pt x="51688" y="1888490"/>
                  </a:lnTo>
                  <a:lnTo>
                    <a:pt x="87413" y="1916086"/>
                  </a:lnTo>
                  <a:lnTo>
                    <a:pt x="129587" y="1933876"/>
                  </a:lnTo>
                  <a:lnTo>
                    <a:pt x="176529" y="1940179"/>
                  </a:lnTo>
                  <a:lnTo>
                    <a:pt x="7594600" y="1940179"/>
                  </a:lnTo>
                  <a:lnTo>
                    <a:pt x="7641542" y="1933876"/>
                  </a:lnTo>
                  <a:lnTo>
                    <a:pt x="7683716" y="1916086"/>
                  </a:lnTo>
                  <a:lnTo>
                    <a:pt x="7719440" y="1888489"/>
                  </a:lnTo>
                  <a:lnTo>
                    <a:pt x="7747037" y="1852765"/>
                  </a:lnTo>
                  <a:lnTo>
                    <a:pt x="7764827" y="1810591"/>
                  </a:lnTo>
                  <a:lnTo>
                    <a:pt x="7771130" y="1763649"/>
                  </a:lnTo>
                  <a:lnTo>
                    <a:pt x="7771130" y="176403"/>
                  </a:lnTo>
                  <a:lnTo>
                    <a:pt x="7764827" y="129513"/>
                  </a:lnTo>
                  <a:lnTo>
                    <a:pt x="7747037" y="87375"/>
                  </a:lnTo>
                  <a:lnTo>
                    <a:pt x="7719441" y="51673"/>
                  </a:lnTo>
                  <a:lnTo>
                    <a:pt x="7683716" y="24087"/>
                  </a:lnTo>
                  <a:lnTo>
                    <a:pt x="7641542" y="6302"/>
                  </a:lnTo>
                  <a:lnTo>
                    <a:pt x="7594600" y="0"/>
                  </a:lnTo>
                  <a:close/>
                </a:path>
              </a:pathLst>
            </a:custGeom>
            <a:solidFill>
              <a:srgbClr val="F9F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72834" y="2721356"/>
              <a:ext cx="7771130" cy="1940560"/>
            </a:xfrm>
            <a:custGeom>
              <a:avLst/>
              <a:gdLst/>
              <a:ahLst/>
              <a:cxnLst/>
              <a:rect l="l" t="t" r="r" b="b"/>
              <a:pathLst>
                <a:path w="7771130" h="1940560">
                  <a:moveTo>
                    <a:pt x="0" y="176403"/>
                  </a:moveTo>
                  <a:lnTo>
                    <a:pt x="6302" y="129513"/>
                  </a:lnTo>
                  <a:lnTo>
                    <a:pt x="24092" y="87375"/>
                  </a:lnTo>
                  <a:lnTo>
                    <a:pt x="51688" y="51673"/>
                  </a:lnTo>
                  <a:lnTo>
                    <a:pt x="87413" y="24087"/>
                  </a:lnTo>
                  <a:lnTo>
                    <a:pt x="129587" y="6302"/>
                  </a:lnTo>
                  <a:lnTo>
                    <a:pt x="176529" y="0"/>
                  </a:lnTo>
                  <a:lnTo>
                    <a:pt x="7594600" y="0"/>
                  </a:lnTo>
                  <a:lnTo>
                    <a:pt x="7641542" y="6302"/>
                  </a:lnTo>
                  <a:lnTo>
                    <a:pt x="7683716" y="24087"/>
                  </a:lnTo>
                  <a:lnTo>
                    <a:pt x="7719441" y="51673"/>
                  </a:lnTo>
                  <a:lnTo>
                    <a:pt x="7747037" y="87375"/>
                  </a:lnTo>
                  <a:lnTo>
                    <a:pt x="7764827" y="129513"/>
                  </a:lnTo>
                  <a:lnTo>
                    <a:pt x="7771130" y="176403"/>
                  </a:lnTo>
                  <a:lnTo>
                    <a:pt x="7771130" y="1763649"/>
                  </a:lnTo>
                  <a:lnTo>
                    <a:pt x="7764827" y="1810591"/>
                  </a:lnTo>
                  <a:lnTo>
                    <a:pt x="7747037" y="1852765"/>
                  </a:lnTo>
                  <a:lnTo>
                    <a:pt x="7719440" y="1888489"/>
                  </a:lnTo>
                  <a:lnTo>
                    <a:pt x="7683716" y="1916086"/>
                  </a:lnTo>
                  <a:lnTo>
                    <a:pt x="7641542" y="1933876"/>
                  </a:lnTo>
                  <a:lnTo>
                    <a:pt x="7594600" y="1940179"/>
                  </a:lnTo>
                  <a:lnTo>
                    <a:pt x="176529" y="1940179"/>
                  </a:lnTo>
                  <a:lnTo>
                    <a:pt x="129587" y="1933876"/>
                  </a:lnTo>
                  <a:lnTo>
                    <a:pt x="87413" y="1916086"/>
                  </a:lnTo>
                  <a:lnTo>
                    <a:pt x="51688" y="1888490"/>
                  </a:lnTo>
                  <a:lnTo>
                    <a:pt x="24092" y="1852765"/>
                  </a:lnTo>
                  <a:lnTo>
                    <a:pt x="6302" y="1810591"/>
                  </a:lnTo>
                  <a:lnTo>
                    <a:pt x="0" y="1763649"/>
                  </a:lnTo>
                  <a:lnTo>
                    <a:pt x="0" y="176403"/>
                  </a:lnTo>
                  <a:close/>
                </a:path>
              </a:pathLst>
            </a:custGeom>
            <a:ln w="22860">
              <a:solidFill>
                <a:srgbClr val="CED9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5694" y="2744089"/>
              <a:ext cx="784860" cy="1894839"/>
            </a:xfrm>
            <a:custGeom>
              <a:avLst/>
              <a:gdLst/>
              <a:ahLst/>
              <a:cxnLst/>
              <a:rect l="l" t="t" r="r" b="b"/>
              <a:pathLst>
                <a:path w="784859" h="1894839">
                  <a:moveTo>
                    <a:pt x="635380" y="0"/>
                  </a:moveTo>
                  <a:lnTo>
                    <a:pt x="149097" y="0"/>
                  </a:lnTo>
                  <a:lnTo>
                    <a:pt x="101941" y="7605"/>
                  </a:lnTo>
                  <a:lnTo>
                    <a:pt x="61008" y="28781"/>
                  </a:lnTo>
                  <a:lnTo>
                    <a:pt x="28744" y="61063"/>
                  </a:lnTo>
                  <a:lnTo>
                    <a:pt x="7593" y="101990"/>
                  </a:lnTo>
                  <a:lnTo>
                    <a:pt x="0" y="149098"/>
                  </a:lnTo>
                  <a:lnTo>
                    <a:pt x="0" y="1745488"/>
                  </a:lnTo>
                  <a:lnTo>
                    <a:pt x="7593" y="1792595"/>
                  </a:lnTo>
                  <a:lnTo>
                    <a:pt x="28744" y="1833522"/>
                  </a:lnTo>
                  <a:lnTo>
                    <a:pt x="61008" y="1865804"/>
                  </a:lnTo>
                  <a:lnTo>
                    <a:pt x="101941" y="1886980"/>
                  </a:lnTo>
                  <a:lnTo>
                    <a:pt x="149097" y="1894586"/>
                  </a:lnTo>
                  <a:lnTo>
                    <a:pt x="635380" y="1894586"/>
                  </a:lnTo>
                  <a:lnTo>
                    <a:pt x="682488" y="1886980"/>
                  </a:lnTo>
                  <a:lnTo>
                    <a:pt x="723415" y="1865804"/>
                  </a:lnTo>
                  <a:lnTo>
                    <a:pt x="755697" y="1833522"/>
                  </a:lnTo>
                  <a:lnTo>
                    <a:pt x="776873" y="1792595"/>
                  </a:lnTo>
                  <a:lnTo>
                    <a:pt x="784478" y="1745488"/>
                  </a:lnTo>
                  <a:lnTo>
                    <a:pt x="784478" y="149098"/>
                  </a:lnTo>
                  <a:lnTo>
                    <a:pt x="776873" y="101990"/>
                  </a:lnTo>
                  <a:lnTo>
                    <a:pt x="755697" y="61063"/>
                  </a:lnTo>
                  <a:lnTo>
                    <a:pt x="723415" y="28781"/>
                  </a:lnTo>
                  <a:lnTo>
                    <a:pt x="682488" y="7605"/>
                  </a:lnTo>
                  <a:lnTo>
                    <a:pt x="635380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8613" y="3422395"/>
            <a:ext cx="1524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i="1" spc="-100" dirty="0">
                <a:solidFill>
                  <a:srgbClr val="405348"/>
                </a:solidFill>
                <a:latin typeface="Book Antiqua"/>
                <a:cs typeface="Book Antiqua"/>
              </a:rPr>
              <a:t>1</a:t>
            </a:r>
            <a:endParaRPr sz="23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0770" y="2221433"/>
            <a:ext cx="7540625" cy="100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5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autenticación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segura</a:t>
            </a:r>
            <a:r>
              <a:rPr sz="15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es</a:t>
            </a:r>
            <a:r>
              <a:rPr sz="15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pilar</a:t>
            </a:r>
            <a:r>
              <a:rPr sz="15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fundamental</a:t>
            </a:r>
            <a:r>
              <a:rPr sz="15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5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PagoSeguroAGROTAC.</a:t>
            </a:r>
            <a:endParaRPr sz="1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5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500">
              <a:latin typeface="Microsoft Sans Serif"/>
              <a:cs typeface="Microsoft Sans Serif"/>
            </a:endParaRPr>
          </a:p>
          <a:p>
            <a:pPr marL="1016000">
              <a:lnSpc>
                <a:spcPct val="100000"/>
              </a:lnSpc>
            </a:pPr>
            <a:r>
              <a:rPr sz="1900" b="1" i="1" dirty="0">
                <a:solidFill>
                  <a:srgbClr val="405348"/>
                </a:solidFill>
                <a:latin typeface="Book Antiqua"/>
                <a:cs typeface="Book Antiqua"/>
              </a:rPr>
              <a:t>RF-</a:t>
            </a:r>
            <a:r>
              <a:rPr sz="1900" b="1" i="1" spc="-45" dirty="0">
                <a:solidFill>
                  <a:srgbClr val="405348"/>
                </a:solidFill>
                <a:latin typeface="Book Antiqua"/>
                <a:cs typeface="Book Antiqua"/>
              </a:rPr>
              <a:t>1:</a:t>
            </a:r>
            <a:r>
              <a:rPr sz="1900" b="1" i="1" spc="-7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900" b="1" i="1" spc="-60" dirty="0">
                <a:solidFill>
                  <a:srgbClr val="405348"/>
                </a:solidFill>
                <a:latin typeface="Book Antiqua"/>
                <a:cs typeface="Book Antiqua"/>
              </a:rPr>
              <a:t>Grstiomar</a:t>
            </a:r>
            <a:r>
              <a:rPr sz="1900" b="1" i="1" spc="-8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9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Accrso</a:t>
            </a:r>
            <a:r>
              <a:rPr sz="1900" b="1" i="1" spc="-9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90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af</a:t>
            </a:r>
            <a:r>
              <a:rPr sz="1900" b="1" i="1" spc="-5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9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Sistrma</a:t>
            </a:r>
            <a:endParaRPr sz="19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4069" y="3399535"/>
            <a:ext cx="5282565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Registro</a:t>
            </a:r>
            <a:r>
              <a:rPr sz="1500" spc="1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500" spc="114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Cliente</a:t>
            </a:r>
            <a:r>
              <a:rPr sz="1500" spc="1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500" spc="1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Asistente.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Char char="•"/>
              <a:tabLst>
                <a:tab pos="355600" algn="l"/>
              </a:tabLst>
            </a:pPr>
            <a:r>
              <a:rPr sz="15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Inicio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5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Cierre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5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Sesión,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Recuperación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5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Contraseña.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Char char="•"/>
              <a:tabLst>
                <a:tab pos="355600" algn="l"/>
              </a:tabLst>
            </a:pP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Acceso</a:t>
            </a:r>
            <a:r>
              <a:rPr sz="15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al</a:t>
            </a:r>
            <a:r>
              <a:rPr sz="15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Dashboard.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1404" y="4846192"/>
            <a:ext cx="7793990" cy="2727960"/>
            <a:chOff x="6161404" y="4846192"/>
            <a:chExt cx="7793990" cy="2727960"/>
          </a:xfrm>
        </p:grpSpPr>
        <p:sp>
          <p:nvSpPr>
            <p:cNvPr id="12" name="object 12"/>
            <p:cNvSpPr/>
            <p:nvPr/>
          </p:nvSpPr>
          <p:spPr>
            <a:xfrm>
              <a:off x="6172834" y="4857622"/>
              <a:ext cx="7771130" cy="2705100"/>
            </a:xfrm>
            <a:custGeom>
              <a:avLst/>
              <a:gdLst/>
              <a:ahLst/>
              <a:cxnLst/>
              <a:rect l="l" t="t" r="r" b="b"/>
              <a:pathLst>
                <a:path w="7771130" h="2705100">
                  <a:moveTo>
                    <a:pt x="7594600" y="0"/>
                  </a:moveTo>
                  <a:lnTo>
                    <a:pt x="176529" y="0"/>
                  </a:lnTo>
                  <a:lnTo>
                    <a:pt x="129587" y="6302"/>
                  </a:lnTo>
                  <a:lnTo>
                    <a:pt x="87413" y="24092"/>
                  </a:lnTo>
                  <a:lnTo>
                    <a:pt x="51688" y="51688"/>
                  </a:lnTo>
                  <a:lnTo>
                    <a:pt x="24092" y="87413"/>
                  </a:lnTo>
                  <a:lnTo>
                    <a:pt x="6302" y="129587"/>
                  </a:lnTo>
                  <a:lnTo>
                    <a:pt x="0" y="176529"/>
                  </a:lnTo>
                  <a:lnTo>
                    <a:pt x="0" y="2528354"/>
                  </a:lnTo>
                  <a:lnTo>
                    <a:pt x="6302" y="2575278"/>
                  </a:lnTo>
                  <a:lnTo>
                    <a:pt x="24092" y="2617444"/>
                  </a:lnTo>
                  <a:lnTo>
                    <a:pt x="51688" y="2653169"/>
                  </a:lnTo>
                  <a:lnTo>
                    <a:pt x="87413" y="2680771"/>
                  </a:lnTo>
                  <a:lnTo>
                    <a:pt x="129587" y="2698565"/>
                  </a:lnTo>
                  <a:lnTo>
                    <a:pt x="176529" y="2704871"/>
                  </a:lnTo>
                  <a:lnTo>
                    <a:pt x="7594600" y="2704871"/>
                  </a:lnTo>
                  <a:lnTo>
                    <a:pt x="7641542" y="2698565"/>
                  </a:lnTo>
                  <a:lnTo>
                    <a:pt x="7683716" y="2680771"/>
                  </a:lnTo>
                  <a:lnTo>
                    <a:pt x="7719440" y="2653169"/>
                  </a:lnTo>
                  <a:lnTo>
                    <a:pt x="7747037" y="2617444"/>
                  </a:lnTo>
                  <a:lnTo>
                    <a:pt x="7764827" y="2575278"/>
                  </a:lnTo>
                  <a:lnTo>
                    <a:pt x="7771130" y="2528354"/>
                  </a:lnTo>
                  <a:lnTo>
                    <a:pt x="7771130" y="176529"/>
                  </a:lnTo>
                  <a:lnTo>
                    <a:pt x="7764827" y="129587"/>
                  </a:lnTo>
                  <a:lnTo>
                    <a:pt x="7747037" y="87413"/>
                  </a:lnTo>
                  <a:lnTo>
                    <a:pt x="7719441" y="51688"/>
                  </a:lnTo>
                  <a:lnTo>
                    <a:pt x="7683716" y="24092"/>
                  </a:lnTo>
                  <a:lnTo>
                    <a:pt x="7641542" y="6302"/>
                  </a:lnTo>
                  <a:lnTo>
                    <a:pt x="7594600" y="0"/>
                  </a:lnTo>
                  <a:close/>
                </a:path>
              </a:pathLst>
            </a:custGeom>
            <a:solidFill>
              <a:srgbClr val="F9FF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72834" y="4857622"/>
              <a:ext cx="7771130" cy="2705100"/>
            </a:xfrm>
            <a:custGeom>
              <a:avLst/>
              <a:gdLst/>
              <a:ahLst/>
              <a:cxnLst/>
              <a:rect l="l" t="t" r="r" b="b"/>
              <a:pathLst>
                <a:path w="7771130" h="2705100">
                  <a:moveTo>
                    <a:pt x="0" y="176529"/>
                  </a:moveTo>
                  <a:lnTo>
                    <a:pt x="6302" y="129587"/>
                  </a:lnTo>
                  <a:lnTo>
                    <a:pt x="24092" y="87413"/>
                  </a:lnTo>
                  <a:lnTo>
                    <a:pt x="51688" y="51688"/>
                  </a:lnTo>
                  <a:lnTo>
                    <a:pt x="87413" y="24092"/>
                  </a:lnTo>
                  <a:lnTo>
                    <a:pt x="129587" y="6302"/>
                  </a:lnTo>
                  <a:lnTo>
                    <a:pt x="176529" y="0"/>
                  </a:lnTo>
                  <a:lnTo>
                    <a:pt x="7594600" y="0"/>
                  </a:lnTo>
                  <a:lnTo>
                    <a:pt x="7641542" y="6302"/>
                  </a:lnTo>
                  <a:lnTo>
                    <a:pt x="7683716" y="24092"/>
                  </a:lnTo>
                  <a:lnTo>
                    <a:pt x="7719441" y="51688"/>
                  </a:lnTo>
                  <a:lnTo>
                    <a:pt x="7747037" y="87413"/>
                  </a:lnTo>
                  <a:lnTo>
                    <a:pt x="7764827" y="129587"/>
                  </a:lnTo>
                  <a:lnTo>
                    <a:pt x="7771130" y="176529"/>
                  </a:lnTo>
                  <a:lnTo>
                    <a:pt x="7771130" y="2528354"/>
                  </a:lnTo>
                  <a:lnTo>
                    <a:pt x="7764827" y="2575278"/>
                  </a:lnTo>
                  <a:lnTo>
                    <a:pt x="7747037" y="2617444"/>
                  </a:lnTo>
                  <a:lnTo>
                    <a:pt x="7719440" y="2653169"/>
                  </a:lnTo>
                  <a:lnTo>
                    <a:pt x="7683716" y="2680771"/>
                  </a:lnTo>
                  <a:lnTo>
                    <a:pt x="7641542" y="2698565"/>
                  </a:lnTo>
                  <a:lnTo>
                    <a:pt x="7594600" y="2704871"/>
                  </a:lnTo>
                  <a:lnTo>
                    <a:pt x="176529" y="2704871"/>
                  </a:lnTo>
                  <a:lnTo>
                    <a:pt x="129587" y="2698565"/>
                  </a:lnTo>
                  <a:lnTo>
                    <a:pt x="87413" y="2680771"/>
                  </a:lnTo>
                  <a:lnTo>
                    <a:pt x="51688" y="2653169"/>
                  </a:lnTo>
                  <a:lnTo>
                    <a:pt x="24092" y="2617444"/>
                  </a:lnTo>
                  <a:lnTo>
                    <a:pt x="6302" y="2575278"/>
                  </a:lnTo>
                  <a:lnTo>
                    <a:pt x="0" y="2528354"/>
                  </a:lnTo>
                  <a:lnTo>
                    <a:pt x="0" y="176529"/>
                  </a:lnTo>
                  <a:close/>
                </a:path>
              </a:pathLst>
            </a:custGeom>
            <a:ln w="22860">
              <a:solidFill>
                <a:srgbClr val="CED9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5694" y="4880482"/>
              <a:ext cx="784860" cy="2659380"/>
            </a:xfrm>
            <a:custGeom>
              <a:avLst/>
              <a:gdLst/>
              <a:ahLst/>
              <a:cxnLst/>
              <a:rect l="l" t="t" r="r" b="b"/>
              <a:pathLst>
                <a:path w="784859" h="2659379">
                  <a:moveTo>
                    <a:pt x="635380" y="0"/>
                  </a:moveTo>
                  <a:lnTo>
                    <a:pt x="149097" y="0"/>
                  </a:lnTo>
                  <a:lnTo>
                    <a:pt x="101941" y="7605"/>
                  </a:lnTo>
                  <a:lnTo>
                    <a:pt x="61008" y="28781"/>
                  </a:lnTo>
                  <a:lnTo>
                    <a:pt x="28744" y="61063"/>
                  </a:lnTo>
                  <a:lnTo>
                    <a:pt x="7593" y="101990"/>
                  </a:lnTo>
                  <a:lnTo>
                    <a:pt x="0" y="149097"/>
                  </a:lnTo>
                  <a:lnTo>
                    <a:pt x="0" y="2510053"/>
                  </a:lnTo>
                  <a:lnTo>
                    <a:pt x="7593" y="2557180"/>
                  </a:lnTo>
                  <a:lnTo>
                    <a:pt x="28744" y="2598109"/>
                  </a:lnTo>
                  <a:lnTo>
                    <a:pt x="61008" y="2630384"/>
                  </a:lnTo>
                  <a:lnTo>
                    <a:pt x="101941" y="2651550"/>
                  </a:lnTo>
                  <a:lnTo>
                    <a:pt x="149097" y="2659151"/>
                  </a:lnTo>
                  <a:lnTo>
                    <a:pt x="635380" y="2659151"/>
                  </a:lnTo>
                  <a:lnTo>
                    <a:pt x="682488" y="2651550"/>
                  </a:lnTo>
                  <a:lnTo>
                    <a:pt x="723415" y="2630384"/>
                  </a:lnTo>
                  <a:lnTo>
                    <a:pt x="755697" y="2598109"/>
                  </a:lnTo>
                  <a:lnTo>
                    <a:pt x="776873" y="2557180"/>
                  </a:lnTo>
                  <a:lnTo>
                    <a:pt x="784478" y="2510053"/>
                  </a:lnTo>
                  <a:lnTo>
                    <a:pt x="784478" y="149097"/>
                  </a:lnTo>
                  <a:lnTo>
                    <a:pt x="776873" y="101990"/>
                  </a:lnTo>
                  <a:lnTo>
                    <a:pt x="755697" y="61063"/>
                  </a:lnTo>
                  <a:lnTo>
                    <a:pt x="723415" y="28781"/>
                  </a:lnTo>
                  <a:lnTo>
                    <a:pt x="682488" y="7605"/>
                  </a:lnTo>
                  <a:lnTo>
                    <a:pt x="635380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28613" y="5941567"/>
            <a:ext cx="19748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i="1" spc="145" dirty="0">
                <a:solidFill>
                  <a:srgbClr val="405348"/>
                </a:solidFill>
                <a:latin typeface="Book Antiqua"/>
                <a:cs typeface="Book Antiqua"/>
              </a:rPr>
              <a:t>2</a:t>
            </a:r>
            <a:endParaRPr sz="23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64069" y="5052822"/>
            <a:ext cx="27990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i="1" spc="-65" dirty="0">
                <a:solidFill>
                  <a:srgbClr val="405348"/>
                </a:solidFill>
                <a:latin typeface="Book Antiqua"/>
                <a:cs typeface="Book Antiqua"/>
              </a:rPr>
              <a:t>Justifiicación</a:t>
            </a:r>
            <a:r>
              <a:rPr sz="1900" b="1" i="1" spc="-4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900" b="1" i="1" dirty="0">
                <a:solidFill>
                  <a:srgbClr val="405348"/>
                </a:solidFill>
                <a:latin typeface="Book Antiqua"/>
                <a:cs typeface="Book Antiqua"/>
              </a:rPr>
              <a:t>de</a:t>
            </a:r>
            <a:r>
              <a:rPr sz="190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 Prioridad</a:t>
            </a:r>
            <a:endParaRPr sz="19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64069" y="5536183"/>
            <a:ext cx="5798185" cy="1783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Autenticación</a:t>
            </a:r>
            <a:r>
              <a:rPr sz="15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necesaria</a:t>
            </a:r>
            <a:r>
              <a:rPr sz="15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5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todos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los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usuarios.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Char char="•"/>
              <a:tabLst>
                <a:tab pos="355600" algn="l"/>
              </a:tabLst>
            </a:pP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Trazabilidad</a:t>
            </a:r>
            <a:r>
              <a:rPr sz="15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5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acciones</a:t>
            </a:r>
            <a:r>
              <a:rPr sz="15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por</a:t>
            </a:r>
            <a:r>
              <a:rPr sz="15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rol.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10"/>
              </a:spcBef>
              <a:buChar char="•"/>
              <a:tabLst>
                <a:tab pos="355600" algn="l"/>
              </a:tabLst>
            </a:pPr>
            <a:r>
              <a:rPr sz="15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Módulos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posteriores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dependen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5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acceso</a:t>
            </a:r>
            <a:r>
              <a:rPr sz="15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correcto.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15"/>
              </a:spcBef>
              <a:buChar char="•"/>
              <a:tabLst>
                <a:tab pos="355600" algn="l"/>
              </a:tabLst>
            </a:pPr>
            <a:r>
              <a:rPr sz="15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Información</a:t>
            </a:r>
            <a:r>
              <a:rPr sz="1500" spc="114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sensible</a:t>
            </a:r>
            <a:r>
              <a:rPr sz="1500" spc="1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requiere</a:t>
            </a: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seguridad</a:t>
            </a:r>
            <a:r>
              <a:rPr sz="15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(RNF-04,</a:t>
            </a:r>
            <a:r>
              <a:rPr sz="1500" spc="1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RNF-</a:t>
            </a:r>
            <a:r>
              <a:rPr sz="15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06).</a:t>
            </a:r>
            <a:endParaRPr sz="15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Char char="•"/>
              <a:tabLst>
                <a:tab pos="355600" algn="l"/>
              </a:tabLst>
            </a:pPr>
            <a:r>
              <a:rPr sz="15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Auditoría</a:t>
            </a:r>
            <a:r>
              <a:rPr sz="15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5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5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con</a:t>
            </a:r>
            <a:r>
              <a:rPr sz="15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control</a:t>
            </a:r>
            <a:r>
              <a:rPr sz="15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5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roles.</a:t>
            </a:r>
            <a:endParaRPr sz="1500">
              <a:latin typeface="Microsoft Sans Serif"/>
              <a:cs typeface="Microsoft Sans Serif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90272" y="7628329"/>
            <a:ext cx="2540127" cy="601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4014" y="2316479"/>
            <a:ext cx="13906500" cy="5913120"/>
            <a:chOff x="724014" y="2316479"/>
            <a:chExt cx="13906500" cy="5913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08252" y="7727784"/>
              <a:ext cx="922134" cy="5018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4014" y="2316479"/>
              <a:ext cx="13510260" cy="5806440"/>
            </a:xfrm>
            <a:custGeom>
              <a:avLst/>
              <a:gdLst/>
              <a:ahLst/>
              <a:cxnLst/>
              <a:rect l="l" t="t" r="r" b="b"/>
              <a:pathLst>
                <a:path w="13510260" h="5806440">
                  <a:moveTo>
                    <a:pt x="13050151" y="0"/>
                  </a:moveTo>
                  <a:lnTo>
                    <a:pt x="459994" y="0"/>
                  </a:lnTo>
                  <a:lnTo>
                    <a:pt x="412961" y="2375"/>
                  </a:lnTo>
                  <a:lnTo>
                    <a:pt x="367288" y="9347"/>
                  </a:lnTo>
                  <a:lnTo>
                    <a:pt x="323204" y="20684"/>
                  </a:lnTo>
                  <a:lnTo>
                    <a:pt x="280942" y="36155"/>
                  </a:lnTo>
                  <a:lnTo>
                    <a:pt x="240732" y="55528"/>
                  </a:lnTo>
                  <a:lnTo>
                    <a:pt x="202805" y="78572"/>
                  </a:lnTo>
                  <a:lnTo>
                    <a:pt x="167393" y="105055"/>
                  </a:lnTo>
                  <a:lnTo>
                    <a:pt x="134727" y="134747"/>
                  </a:lnTo>
                  <a:lnTo>
                    <a:pt x="105039" y="167414"/>
                  </a:lnTo>
                  <a:lnTo>
                    <a:pt x="78558" y="202827"/>
                  </a:lnTo>
                  <a:lnTo>
                    <a:pt x="55518" y="240754"/>
                  </a:lnTo>
                  <a:lnTo>
                    <a:pt x="36148" y="280963"/>
                  </a:lnTo>
                  <a:lnTo>
                    <a:pt x="20680" y="323223"/>
                  </a:lnTo>
                  <a:lnTo>
                    <a:pt x="9345" y="367302"/>
                  </a:lnTo>
                  <a:lnTo>
                    <a:pt x="2374" y="412970"/>
                  </a:lnTo>
                  <a:lnTo>
                    <a:pt x="0" y="459994"/>
                  </a:lnTo>
                  <a:lnTo>
                    <a:pt x="0" y="5346446"/>
                  </a:lnTo>
                  <a:lnTo>
                    <a:pt x="2374" y="5393478"/>
                  </a:lnTo>
                  <a:lnTo>
                    <a:pt x="9345" y="5439151"/>
                  </a:lnTo>
                  <a:lnTo>
                    <a:pt x="20680" y="5483235"/>
                  </a:lnTo>
                  <a:lnTo>
                    <a:pt x="36148" y="5525497"/>
                  </a:lnTo>
                  <a:lnTo>
                    <a:pt x="55518" y="5565707"/>
                  </a:lnTo>
                  <a:lnTo>
                    <a:pt x="78558" y="5603633"/>
                  </a:lnTo>
                  <a:lnTo>
                    <a:pt x="105039" y="5639045"/>
                  </a:lnTo>
                  <a:lnTo>
                    <a:pt x="134727" y="5671711"/>
                  </a:lnTo>
                  <a:lnTo>
                    <a:pt x="167393" y="5701399"/>
                  </a:lnTo>
                  <a:lnTo>
                    <a:pt x="202805" y="5727880"/>
                  </a:lnTo>
                  <a:lnTo>
                    <a:pt x="240732" y="5750920"/>
                  </a:lnTo>
                  <a:lnTo>
                    <a:pt x="280942" y="5770290"/>
                  </a:lnTo>
                  <a:lnTo>
                    <a:pt x="323204" y="5785758"/>
                  </a:lnTo>
                  <a:lnTo>
                    <a:pt x="367288" y="5797093"/>
                  </a:lnTo>
                  <a:lnTo>
                    <a:pt x="412961" y="5804063"/>
                  </a:lnTo>
                  <a:lnTo>
                    <a:pt x="459994" y="5806438"/>
                  </a:lnTo>
                  <a:lnTo>
                    <a:pt x="13050151" y="5806438"/>
                  </a:lnTo>
                  <a:lnTo>
                    <a:pt x="13097175" y="5804063"/>
                  </a:lnTo>
                  <a:lnTo>
                    <a:pt x="13142842" y="5797093"/>
                  </a:lnTo>
                  <a:lnTo>
                    <a:pt x="13186922" y="5785758"/>
                  </a:lnTo>
                  <a:lnTo>
                    <a:pt x="13229182" y="5770290"/>
                  </a:lnTo>
                  <a:lnTo>
                    <a:pt x="13269391" y="5750920"/>
                  </a:lnTo>
                  <a:lnTo>
                    <a:pt x="13307317" y="5727880"/>
                  </a:lnTo>
                  <a:lnTo>
                    <a:pt x="13342730" y="5701399"/>
                  </a:lnTo>
                  <a:lnTo>
                    <a:pt x="13375398" y="5671711"/>
                  </a:lnTo>
                  <a:lnTo>
                    <a:pt x="13405090" y="5639045"/>
                  </a:lnTo>
                  <a:lnTo>
                    <a:pt x="13431573" y="5603633"/>
                  </a:lnTo>
                  <a:lnTo>
                    <a:pt x="13454617" y="5565707"/>
                  </a:lnTo>
                  <a:lnTo>
                    <a:pt x="13473990" y="5525497"/>
                  </a:lnTo>
                  <a:lnTo>
                    <a:pt x="13489461" y="5483235"/>
                  </a:lnTo>
                  <a:lnTo>
                    <a:pt x="13500798" y="5439151"/>
                  </a:lnTo>
                  <a:lnTo>
                    <a:pt x="13507770" y="5393478"/>
                  </a:lnTo>
                  <a:lnTo>
                    <a:pt x="13510145" y="5346446"/>
                  </a:lnTo>
                  <a:lnTo>
                    <a:pt x="13510145" y="459994"/>
                  </a:lnTo>
                  <a:lnTo>
                    <a:pt x="13507770" y="412970"/>
                  </a:lnTo>
                  <a:lnTo>
                    <a:pt x="13500798" y="367302"/>
                  </a:lnTo>
                  <a:lnTo>
                    <a:pt x="13489461" y="323223"/>
                  </a:lnTo>
                  <a:lnTo>
                    <a:pt x="13473990" y="280963"/>
                  </a:lnTo>
                  <a:lnTo>
                    <a:pt x="13454617" y="240754"/>
                  </a:lnTo>
                  <a:lnTo>
                    <a:pt x="13431573" y="202827"/>
                  </a:lnTo>
                  <a:lnTo>
                    <a:pt x="13405090" y="167414"/>
                  </a:lnTo>
                  <a:lnTo>
                    <a:pt x="13375398" y="134747"/>
                  </a:lnTo>
                  <a:lnTo>
                    <a:pt x="13342730" y="105055"/>
                  </a:lnTo>
                  <a:lnTo>
                    <a:pt x="13307317" y="78572"/>
                  </a:lnTo>
                  <a:lnTo>
                    <a:pt x="13269391" y="55528"/>
                  </a:lnTo>
                  <a:lnTo>
                    <a:pt x="13229182" y="36155"/>
                  </a:lnTo>
                  <a:lnTo>
                    <a:pt x="13186922" y="20684"/>
                  </a:lnTo>
                  <a:lnTo>
                    <a:pt x="13142842" y="9347"/>
                  </a:lnTo>
                  <a:lnTo>
                    <a:pt x="13097175" y="2375"/>
                  </a:lnTo>
                  <a:lnTo>
                    <a:pt x="13050151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6116" y="2663151"/>
              <a:ext cx="10567924" cy="506463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Priorización</a:t>
            </a:r>
            <a:r>
              <a:rPr spc="-135" dirty="0"/>
              <a:t> </a:t>
            </a:r>
            <a:r>
              <a:rPr spc="210" dirty="0"/>
              <a:t>dr</a:t>
            </a:r>
            <a:r>
              <a:rPr spc="-125" dirty="0"/>
              <a:t> </a:t>
            </a:r>
            <a:r>
              <a:rPr spc="-10" dirty="0"/>
              <a:t>Rrquisitos</a:t>
            </a:r>
            <a:r>
              <a:rPr spc="-160" dirty="0"/>
              <a:t> </a:t>
            </a:r>
            <a:r>
              <a:rPr spc="-10" dirty="0"/>
              <a:t>Cfavr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504" y="1777111"/>
            <a:ext cx="18694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Matriz</a:t>
            </a:r>
            <a:r>
              <a:rPr sz="16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6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6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prioridad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0272" y="7628329"/>
            <a:ext cx="2540127" cy="6012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3508" y="1229994"/>
            <a:ext cx="1119822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50" spc="-60" dirty="0"/>
              <a:t>Viabifidad</a:t>
            </a:r>
            <a:r>
              <a:rPr sz="4250" spc="-175" dirty="0"/>
              <a:t> </a:t>
            </a:r>
            <a:r>
              <a:rPr sz="4250" spc="110" dirty="0"/>
              <a:t>drf</a:t>
            </a:r>
            <a:r>
              <a:rPr sz="4250" spc="-150" dirty="0"/>
              <a:t> </a:t>
            </a:r>
            <a:r>
              <a:rPr sz="4250" dirty="0"/>
              <a:t>Proyrcto</a:t>
            </a:r>
            <a:r>
              <a:rPr sz="4250" spc="-175" dirty="0"/>
              <a:t> </a:t>
            </a:r>
            <a:r>
              <a:rPr sz="4250" spc="-40" dirty="0"/>
              <a:t>PagoSrguroAGROTAC</a:t>
            </a:r>
            <a:endParaRPr sz="4250"/>
          </a:p>
        </p:txBody>
      </p:sp>
      <p:grpSp>
        <p:nvGrpSpPr>
          <p:cNvPr id="4" name="object 4"/>
          <p:cNvGrpSpPr/>
          <p:nvPr/>
        </p:nvGrpSpPr>
        <p:grpSpPr>
          <a:xfrm>
            <a:off x="752233" y="3833240"/>
            <a:ext cx="6303645" cy="1882775"/>
            <a:chOff x="752233" y="3833240"/>
            <a:chExt cx="6303645" cy="1882775"/>
          </a:xfrm>
        </p:grpSpPr>
        <p:sp>
          <p:nvSpPr>
            <p:cNvPr id="5" name="object 5"/>
            <p:cNvSpPr/>
            <p:nvPr/>
          </p:nvSpPr>
          <p:spPr>
            <a:xfrm>
              <a:off x="756043" y="3837050"/>
              <a:ext cx="6296025" cy="1875155"/>
            </a:xfrm>
            <a:custGeom>
              <a:avLst/>
              <a:gdLst/>
              <a:ahLst/>
              <a:cxnLst/>
              <a:rect l="l" t="t" r="r" b="b"/>
              <a:pathLst>
                <a:path w="6296025" h="1875154">
                  <a:moveTo>
                    <a:pt x="0" y="194437"/>
                  </a:moveTo>
                  <a:lnTo>
                    <a:pt x="5135" y="149836"/>
                  </a:lnTo>
                  <a:lnTo>
                    <a:pt x="19763" y="108903"/>
                  </a:lnTo>
                  <a:lnTo>
                    <a:pt x="42717" y="72802"/>
                  </a:lnTo>
                  <a:lnTo>
                    <a:pt x="72829" y="42697"/>
                  </a:lnTo>
                  <a:lnTo>
                    <a:pt x="108931" y="19752"/>
                  </a:lnTo>
                  <a:lnTo>
                    <a:pt x="149856" y="5132"/>
                  </a:lnTo>
                  <a:lnTo>
                    <a:pt x="194436" y="0"/>
                  </a:lnTo>
                  <a:lnTo>
                    <a:pt x="6101194" y="0"/>
                  </a:lnTo>
                  <a:lnTo>
                    <a:pt x="6145794" y="5132"/>
                  </a:lnTo>
                  <a:lnTo>
                    <a:pt x="6186727" y="19752"/>
                  </a:lnTo>
                  <a:lnTo>
                    <a:pt x="6222828" y="42697"/>
                  </a:lnTo>
                  <a:lnTo>
                    <a:pt x="6252933" y="72802"/>
                  </a:lnTo>
                  <a:lnTo>
                    <a:pt x="6275878" y="108903"/>
                  </a:lnTo>
                  <a:lnTo>
                    <a:pt x="6290499" y="149836"/>
                  </a:lnTo>
                  <a:lnTo>
                    <a:pt x="6295631" y="194437"/>
                  </a:lnTo>
                  <a:lnTo>
                    <a:pt x="6295631" y="1680337"/>
                  </a:lnTo>
                  <a:lnTo>
                    <a:pt x="6290499" y="1724897"/>
                  </a:lnTo>
                  <a:lnTo>
                    <a:pt x="6275878" y="1765815"/>
                  </a:lnTo>
                  <a:lnTo>
                    <a:pt x="6252933" y="1801918"/>
                  </a:lnTo>
                  <a:lnTo>
                    <a:pt x="6222828" y="1832036"/>
                  </a:lnTo>
                  <a:lnTo>
                    <a:pt x="6186727" y="1854999"/>
                  </a:lnTo>
                  <a:lnTo>
                    <a:pt x="6145794" y="1869635"/>
                  </a:lnTo>
                  <a:lnTo>
                    <a:pt x="6101194" y="1874774"/>
                  </a:lnTo>
                  <a:lnTo>
                    <a:pt x="194436" y="1874774"/>
                  </a:lnTo>
                  <a:lnTo>
                    <a:pt x="149856" y="1869635"/>
                  </a:lnTo>
                  <a:lnTo>
                    <a:pt x="108931" y="1854999"/>
                  </a:lnTo>
                  <a:lnTo>
                    <a:pt x="72829" y="1832036"/>
                  </a:lnTo>
                  <a:lnTo>
                    <a:pt x="42717" y="1801918"/>
                  </a:lnTo>
                  <a:lnTo>
                    <a:pt x="19763" y="1765815"/>
                  </a:lnTo>
                  <a:lnTo>
                    <a:pt x="5135" y="1724897"/>
                  </a:lnTo>
                  <a:lnTo>
                    <a:pt x="0" y="1680337"/>
                  </a:lnTo>
                  <a:lnTo>
                    <a:pt x="0" y="194437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3663" y="3844594"/>
              <a:ext cx="6280785" cy="620395"/>
            </a:xfrm>
            <a:custGeom>
              <a:avLst/>
              <a:gdLst/>
              <a:ahLst/>
              <a:cxnLst/>
              <a:rect l="l" t="t" r="r" b="b"/>
              <a:pathLst>
                <a:path w="6280784" h="620395">
                  <a:moveTo>
                    <a:pt x="6280404" y="0"/>
                  </a:moveTo>
                  <a:lnTo>
                    <a:pt x="0" y="0"/>
                  </a:lnTo>
                  <a:lnTo>
                    <a:pt x="0" y="619836"/>
                  </a:lnTo>
                  <a:lnTo>
                    <a:pt x="6280404" y="619836"/>
                  </a:lnTo>
                  <a:lnTo>
                    <a:pt x="6280404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3663" y="4464481"/>
              <a:ext cx="6280785" cy="620395"/>
            </a:xfrm>
            <a:custGeom>
              <a:avLst/>
              <a:gdLst/>
              <a:ahLst/>
              <a:cxnLst/>
              <a:rect l="l" t="t" r="r" b="b"/>
              <a:pathLst>
                <a:path w="6280784" h="620395">
                  <a:moveTo>
                    <a:pt x="6280404" y="0"/>
                  </a:moveTo>
                  <a:lnTo>
                    <a:pt x="0" y="0"/>
                  </a:lnTo>
                  <a:lnTo>
                    <a:pt x="0" y="619836"/>
                  </a:lnTo>
                  <a:lnTo>
                    <a:pt x="6280404" y="619836"/>
                  </a:lnTo>
                  <a:lnTo>
                    <a:pt x="6280404" y="0"/>
                  </a:lnTo>
                  <a:close/>
                </a:path>
              </a:pathLst>
            </a:custGeom>
            <a:solidFill>
              <a:srgbClr val="000000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3663" y="5084368"/>
              <a:ext cx="6280785" cy="620395"/>
            </a:xfrm>
            <a:custGeom>
              <a:avLst/>
              <a:gdLst/>
              <a:ahLst/>
              <a:cxnLst/>
              <a:rect l="l" t="t" r="r" b="b"/>
              <a:pathLst>
                <a:path w="6280784" h="620395">
                  <a:moveTo>
                    <a:pt x="6280404" y="0"/>
                  </a:moveTo>
                  <a:lnTo>
                    <a:pt x="0" y="0"/>
                  </a:lnTo>
                  <a:lnTo>
                    <a:pt x="0" y="619836"/>
                  </a:lnTo>
                  <a:lnTo>
                    <a:pt x="6280404" y="619836"/>
                  </a:lnTo>
                  <a:lnTo>
                    <a:pt x="6280404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63663" y="3844594"/>
          <a:ext cx="6356984" cy="1859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76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700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Equipo</a:t>
                      </a:r>
                      <a:r>
                        <a:rPr sz="1700" spc="225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100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(Laptop)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marL="72580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700" spc="114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600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0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700" spc="85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Software</a:t>
                      </a:r>
                      <a:r>
                        <a:rPr sz="1700" spc="5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700" spc="-20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(SO)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/>
                </a:tc>
                <a:tc>
                  <a:txBody>
                    <a:bodyPr/>
                    <a:lstStyle/>
                    <a:p>
                      <a:pPr marL="72580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700" spc="-25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145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700" spc="-10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TOTAL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/>
                </a:tc>
                <a:tc>
                  <a:txBody>
                    <a:bodyPr/>
                    <a:lstStyle/>
                    <a:p>
                      <a:pPr marL="72580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700" spc="-25" dirty="0">
                          <a:solidFill>
                            <a:srgbClr val="405348"/>
                          </a:solidFill>
                          <a:latin typeface="Microsoft Sans Serif"/>
                          <a:cs typeface="Microsoft Sans Serif"/>
                        </a:rPr>
                        <a:t>745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43508" y="5900414"/>
            <a:ext cx="5770245" cy="7124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Costos</a:t>
            </a:r>
            <a:r>
              <a:rPr sz="17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mínimos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gracias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 al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uso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software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gratuito</a:t>
            </a:r>
            <a:r>
              <a:rPr sz="17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7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código</a:t>
            </a:r>
            <a:r>
              <a:rPr sz="17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abierto.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508" y="2413507"/>
            <a:ext cx="11710670" cy="1158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proyecto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es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factible</a:t>
            </a: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los</a:t>
            </a:r>
            <a:r>
              <a:rPr sz="17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recursos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disponibles,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90" dirty="0">
                <a:solidFill>
                  <a:srgbClr val="405348"/>
                </a:solidFill>
                <a:latin typeface="Microsoft Sans Serif"/>
                <a:cs typeface="Microsoft Sans Serif"/>
              </a:rPr>
              <a:t>demostrando</a:t>
            </a:r>
            <a:r>
              <a:rPr sz="17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una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planificación</a:t>
            </a: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realista.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6843395" algn="l"/>
              </a:tabLst>
            </a:pPr>
            <a:r>
              <a:rPr sz="2550" b="1" i="1" spc="-40" dirty="0">
                <a:solidFill>
                  <a:srgbClr val="3A4540"/>
                </a:solidFill>
                <a:latin typeface="Book Antiqua"/>
                <a:cs typeface="Book Antiqua"/>
              </a:rPr>
              <a:t>Viabilidad</a:t>
            </a:r>
            <a:r>
              <a:rPr sz="2550" b="1" i="1" spc="-105" dirty="0">
                <a:solidFill>
                  <a:srgbClr val="3A4540"/>
                </a:solidFill>
                <a:latin typeface="Book Antiqua"/>
                <a:cs typeface="Book Antiqua"/>
              </a:rPr>
              <a:t> </a:t>
            </a:r>
            <a:r>
              <a:rPr sz="2550" b="1" i="1" spc="-10" dirty="0">
                <a:solidFill>
                  <a:srgbClr val="3A4540"/>
                </a:solidFill>
                <a:latin typeface="Book Antiqua"/>
                <a:cs typeface="Book Antiqua"/>
              </a:rPr>
              <a:t>Económica</a:t>
            </a:r>
            <a:r>
              <a:rPr sz="2550" b="1" i="1" dirty="0">
                <a:solidFill>
                  <a:srgbClr val="3A4540"/>
                </a:solidFill>
                <a:latin typeface="Book Antiqua"/>
                <a:cs typeface="Book Antiqua"/>
              </a:rPr>
              <a:t>	</a:t>
            </a:r>
            <a:r>
              <a:rPr sz="2550" b="1" i="1" spc="-40" dirty="0">
                <a:solidFill>
                  <a:srgbClr val="3A4540"/>
                </a:solidFill>
                <a:latin typeface="Book Antiqua"/>
                <a:cs typeface="Book Antiqua"/>
              </a:rPr>
              <a:t>Viabilidad</a:t>
            </a:r>
            <a:r>
              <a:rPr sz="2550" b="1" i="1" spc="-85" dirty="0">
                <a:solidFill>
                  <a:srgbClr val="3A4540"/>
                </a:solidFill>
                <a:latin typeface="Book Antiqua"/>
                <a:cs typeface="Book Antiqua"/>
              </a:rPr>
              <a:t> </a:t>
            </a:r>
            <a:r>
              <a:rPr sz="2550" b="1" i="1" dirty="0">
                <a:solidFill>
                  <a:srgbClr val="3A4540"/>
                </a:solidFill>
                <a:latin typeface="Book Antiqua"/>
                <a:cs typeface="Book Antiqua"/>
              </a:rPr>
              <a:t>Humana</a:t>
            </a:r>
            <a:r>
              <a:rPr sz="2550" b="1" i="1" spc="-85" dirty="0">
                <a:solidFill>
                  <a:srgbClr val="3A4540"/>
                </a:solidFill>
                <a:latin typeface="Book Antiqua"/>
                <a:cs typeface="Book Antiqua"/>
              </a:rPr>
              <a:t> </a:t>
            </a:r>
            <a:r>
              <a:rPr sz="2550" b="1" i="1" spc="-135" dirty="0">
                <a:solidFill>
                  <a:srgbClr val="3A4540"/>
                </a:solidFill>
                <a:latin typeface="Book Antiqua"/>
                <a:cs typeface="Book Antiqua"/>
              </a:rPr>
              <a:t>y</a:t>
            </a:r>
            <a:r>
              <a:rPr sz="2550" b="1" i="1" spc="-50" dirty="0">
                <a:solidFill>
                  <a:srgbClr val="3A4540"/>
                </a:solidFill>
                <a:latin typeface="Book Antiqua"/>
                <a:cs typeface="Book Antiqua"/>
              </a:rPr>
              <a:t> </a:t>
            </a:r>
            <a:r>
              <a:rPr sz="2550" b="1" i="1" spc="-10" dirty="0">
                <a:solidFill>
                  <a:srgbClr val="3A4540"/>
                </a:solidFill>
                <a:latin typeface="Book Antiqua"/>
                <a:cs typeface="Book Antiqua"/>
              </a:rPr>
              <a:t>Tecnológica</a:t>
            </a:r>
            <a:endParaRPr sz="255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74406" y="3838778"/>
            <a:ext cx="6211570" cy="300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17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Tutor</a:t>
            </a:r>
            <a:r>
              <a:rPr sz="1700" spc="10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Empresarial:</a:t>
            </a:r>
            <a:r>
              <a:rPr sz="17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Valida</a:t>
            </a:r>
            <a:r>
              <a:rPr sz="1700" spc="16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procesos</a:t>
            </a:r>
            <a:r>
              <a:rPr sz="17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00" spc="1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reglas</a:t>
            </a:r>
            <a:r>
              <a:rPr sz="1700" spc="1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700" spc="1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negocio.</a:t>
            </a:r>
            <a:endParaRPr sz="17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har char="•"/>
              <a:tabLst>
                <a:tab pos="354965" algn="l"/>
              </a:tabLst>
            </a:pPr>
            <a:r>
              <a:rPr sz="17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Tutor</a:t>
            </a:r>
            <a:r>
              <a:rPr sz="17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Académico:</a:t>
            </a:r>
            <a:r>
              <a:rPr sz="17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Supervisa</a:t>
            </a:r>
            <a:r>
              <a:rPr sz="17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metodologías</a:t>
            </a:r>
            <a:r>
              <a:rPr sz="17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artefactos.</a:t>
            </a:r>
            <a:endParaRPr sz="1700">
              <a:latin typeface="Microsoft Sans Serif"/>
              <a:cs typeface="Microsoft Sans Serif"/>
            </a:endParaRPr>
          </a:p>
          <a:p>
            <a:pPr marL="354965" indent="-342265">
              <a:lnSpc>
                <a:spcPct val="100000"/>
              </a:lnSpc>
              <a:spcBef>
                <a:spcPts val="1280"/>
              </a:spcBef>
              <a:buChar char="•"/>
              <a:tabLst>
                <a:tab pos="354965" algn="l"/>
              </a:tabLst>
            </a:pPr>
            <a:r>
              <a:rPr sz="17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Estudiantes:</a:t>
            </a:r>
            <a:r>
              <a:rPr sz="17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Desarrollan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arquitectura</a:t>
            </a:r>
            <a:r>
              <a:rPr sz="17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e</a:t>
            </a:r>
            <a:r>
              <a:rPr sz="17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 implementan</a:t>
            </a:r>
            <a:endParaRPr sz="17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660"/>
              </a:spcBef>
            </a:pPr>
            <a:r>
              <a:rPr sz="17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patrones.</a:t>
            </a:r>
            <a:endParaRPr sz="1700">
              <a:latin typeface="Microsoft Sans Serif"/>
              <a:cs typeface="Microsoft Sans Serif"/>
            </a:endParaRPr>
          </a:p>
          <a:p>
            <a:pPr marL="355600" marR="5080" indent="-342900">
              <a:lnSpc>
                <a:spcPct val="132400"/>
              </a:lnSpc>
              <a:spcBef>
                <a:spcPts val="635"/>
              </a:spcBef>
              <a:buChar char="•"/>
              <a:tabLst>
                <a:tab pos="355600" algn="l"/>
              </a:tabLst>
            </a:pP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Hardware: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Laptop</a:t>
            </a:r>
            <a:r>
              <a:rPr sz="1700" spc="-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Ryzen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7</a:t>
            </a:r>
            <a:r>
              <a:rPr sz="17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70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capacidad</a:t>
            </a:r>
            <a:r>
              <a:rPr sz="17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suficiente</a:t>
            </a:r>
            <a:r>
              <a:rPr sz="17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 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Docker,</a:t>
            </a:r>
            <a:r>
              <a:rPr sz="1700" spc="-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-100" dirty="0">
                <a:solidFill>
                  <a:srgbClr val="405348"/>
                </a:solidFill>
                <a:latin typeface="Microsoft Sans Serif"/>
                <a:cs typeface="Microsoft Sans Serif"/>
              </a:rPr>
              <a:t>OCR,</a:t>
            </a:r>
            <a:r>
              <a:rPr sz="17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IDE</a:t>
            </a:r>
            <a:r>
              <a:rPr sz="170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700" spc="-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backend.</a:t>
            </a:r>
            <a:endParaRPr sz="1700">
              <a:latin typeface="Microsoft Sans Serif"/>
              <a:cs typeface="Microsoft Sans Serif"/>
            </a:endParaRPr>
          </a:p>
          <a:p>
            <a:pPr marL="355600" marR="147320" indent="-342900">
              <a:lnSpc>
                <a:spcPct val="132400"/>
              </a:lnSpc>
              <a:spcBef>
                <a:spcPts val="640"/>
              </a:spcBef>
              <a:buChar char="•"/>
              <a:tabLst>
                <a:tab pos="355600" algn="l"/>
              </a:tabLst>
            </a:pPr>
            <a:r>
              <a:rPr sz="17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Software:</a:t>
            </a:r>
            <a:r>
              <a:rPr sz="17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Windows,</a:t>
            </a:r>
            <a:r>
              <a:rPr sz="17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405348"/>
                </a:solidFill>
                <a:latin typeface="Microsoft Sans Serif"/>
                <a:cs typeface="Microsoft Sans Serif"/>
              </a:rPr>
              <a:t>VS</a:t>
            </a:r>
            <a:r>
              <a:rPr sz="17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Code,</a:t>
            </a:r>
            <a:r>
              <a:rPr sz="17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Docker,</a:t>
            </a:r>
            <a:r>
              <a:rPr sz="17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405348"/>
                </a:solidFill>
                <a:latin typeface="Microsoft Sans Serif"/>
                <a:cs typeface="Microsoft Sans Serif"/>
              </a:rPr>
              <a:t>PostgreSQL,</a:t>
            </a:r>
            <a:r>
              <a:rPr sz="17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etc., </a:t>
            </a:r>
            <a:r>
              <a:rPr sz="1700" spc="95" dirty="0">
                <a:solidFill>
                  <a:srgbClr val="405348"/>
                </a:solidFill>
                <a:latin typeface="Microsoft Sans Serif"/>
                <a:cs typeface="Microsoft Sans Serif"/>
              </a:rPr>
              <a:t>todos</a:t>
            </a:r>
            <a:r>
              <a:rPr sz="1700" spc="-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disponibles.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722" y="464947"/>
            <a:ext cx="7954009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50" spc="-165" dirty="0"/>
              <a:t>Comcfusiomrs</a:t>
            </a:r>
            <a:r>
              <a:rPr sz="3550" spc="-150" dirty="0"/>
              <a:t> </a:t>
            </a:r>
            <a:r>
              <a:rPr sz="3550" spc="-185" dirty="0"/>
              <a:t>y</a:t>
            </a:r>
            <a:r>
              <a:rPr sz="3550" spc="-90" dirty="0"/>
              <a:t> </a:t>
            </a:r>
            <a:r>
              <a:rPr sz="3550" spc="-85" dirty="0"/>
              <a:t>Rrcomrmdaciomrs</a:t>
            </a:r>
            <a:r>
              <a:rPr sz="3550" spc="-140" dirty="0"/>
              <a:t> </a:t>
            </a:r>
            <a:r>
              <a:rPr sz="3550" spc="-10" dirty="0"/>
              <a:t>Cfavr</a:t>
            </a:r>
            <a:endParaRPr sz="3550"/>
          </a:p>
        </p:txBody>
      </p:sp>
      <p:sp>
        <p:nvSpPr>
          <p:cNvPr id="3" name="object 3"/>
          <p:cNvSpPr/>
          <p:nvPr/>
        </p:nvSpPr>
        <p:spPr>
          <a:xfrm>
            <a:off x="636384" y="1432052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46"/>
                </a:lnTo>
                <a:lnTo>
                  <a:pt x="81061" y="22347"/>
                </a:lnTo>
                <a:lnTo>
                  <a:pt x="47937" y="47942"/>
                </a:lnTo>
                <a:lnTo>
                  <a:pt x="22345" y="81073"/>
                </a:lnTo>
                <a:lnTo>
                  <a:pt x="5846" y="120179"/>
                </a:lnTo>
                <a:lnTo>
                  <a:pt x="0" y="163702"/>
                </a:lnTo>
                <a:lnTo>
                  <a:pt x="0" y="245491"/>
                </a:lnTo>
                <a:lnTo>
                  <a:pt x="5846" y="289014"/>
                </a:lnTo>
                <a:lnTo>
                  <a:pt x="22345" y="328120"/>
                </a:lnTo>
                <a:lnTo>
                  <a:pt x="47937" y="361251"/>
                </a:lnTo>
                <a:lnTo>
                  <a:pt x="81061" y="386846"/>
                </a:lnTo>
                <a:lnTo>
                  <a:pt x="120157" y="403347"/>
                </a:lnTo>
                <a:lnTo>
                  <a:pt x="163664" y="409194"/>
                </a:lnTo>
                <a:lnTo>
                  <a:pt x="245440" y="409194"/>
                </a:lnTo>
                <a:lnTo>
                  <a:pt x="288947" y="403347"/>
                </a:lnTo>
                <a:lnTo>
                  <a:pt x="328043" y="386846"/>
                </a:lnTo>
                <a:lnTo>
                  <a:pt x="361167" y="361251"/>
                </a:lnTo>
                <a:lnTo>
                  <a:pt x="386759" y="328120"/>
                </a:lnTo>
                <a:lnTo>
                  <a:pt x="403258" y="289014"/>
                </a:lnTo>
                <a:lnTo>
                  <a:pt x="409105" y="245491"/>
                </a:lnTo>
                <a:lnTo>
                  <a:pt x="409105" y="163702"/>
                </a:lnTo>
                <a:lnTo>
                  <a:pt x="403258" y="120179"/>
                </a:lnTo>
                <a:lnTo>
                  <a:pt x="386759" y="81073"/>
                </a:lnTo>
                <a:lnTo>
                  <a:pt x="361167" y="47942"/>
                </a:lnTo>
                <a:lnTo>
                  <a:pt x="328043" y="22347"/>
                </a:lnTo>
                <a:lnTo>
                  <a:pt x="288947" y="5846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8807" y="1386281"/>
            <a:ext cx="141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-85" dirty="0">
                <a:solidFill>
                  <a:srgbClr val="405348"/>
                </a:solidFill>
                <a:latin typeface="Book Antiqua"/>
                <a:cs typeface="Book Antiqua"/>
              </a:rPr>
              <a:t>1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4729" y="1470152"/>
            <a:ext cx="11692255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i="1" spc="-20" dirty="0">
                <a:solidFill>
                  <a:srgbClr val="405348"/>
                </a:solidFill>
                <a:latin typeface="Book Antiqua"/>
                <a:cs typeface="Book Antiqua"/>
              </a:rPr>
              <a:t>Diagnóstico</a:t>
            </a:r>
            <a:r>
              <a:rPr sz="1750" b="1" i="1" spc="-7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Preciso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El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proyecto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identificó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estructuró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problemática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gestión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manual,</a:t>
            </a:r>
            <a:r>
              <a:rPr sz="14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justificando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una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solución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automatizada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ingeniería</a:t>
            </a:r>
            <a:r>
              <a:rPr sz="1400" spc="-18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software.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6384" y="254228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37"/>
                </a:lnTo>
                <a:lnTo>
                  <a:pt x="81061" y="22314"/>
                </a:lnTo>
                <a:lnTo>
                  <a:pt x="47937" y="47878"/>
                </a:lnTo>
                <a:lnTo>
                  <a:pt x="22345" y="80978"/>
                </a:lnTo>
                <a:lnTo>
                  <a:pt x="5846" y="120062"/>
                </a:lnTo>
                <a:lnTo>
                  <a:pt x="0" y="163575"/>
                </a:lnTo>
                <a:lnTo>
                  <a:pt x="0" y="245363"/>
                </a:lnTo>
                <a:lnTo>
                  <a:pt x="5846" y="288887"/>
                </a:lnTo>
                <a:lnTo>
                  <a:pt x="22345" y="327993"/>
                </a:lnTo>
                <a:lnTo>
                  <a:pt x="47937" y="361124"/>
                </a:lnTo>
                <a:lnTo>
                  <a:pt x="81061" y="386719"/>
                </a:lnTo>
                <a:lnTo>
                  <a:pt x="120157" y="403220"/>
                </a:lnTo>
                <a:lnTo>
                  <a:pt x="163664" y="409066"/>
                </a:lnTo>
                <a:lnTo>
                  <a:pt x="245440" y="409066"/>
                </a:lnTo>
                <a:lnTo>
                  <a:pt x="288947" y="403220"/>
                </a:lnTo>
                <a:lnTo>
                  <a:pt x="328043" y="386719"/>
                </a:lnTo>
                <a:lnTo>
                  <a:pt x="361167" y="361124"/>
                </a:lnTo>
                <a:lnTo>
                  <a:pt x="386759" y="327993"/>
                </a:lnTo>
                <a:lnTo>
                  <a:pt x="403258" y="288887"/>
                </a:lnTo>
                <a:lnTo>
                  <a:pt x="409105" y="245363"/>
                </a:lnTo>
                <a:lnTo>
                  <a:pt x="409105" y="163575"/>
                </a:lnTo>
                <a:lnTo>
                  <a:pt x="403258" y="120062"/>
                </a:lnTo>
                <a:lnTo>
                  <a:pt x="386759" y="80978"/>
                </a:lnTo>
                <a:lnTo>
                  <a:pt x="361167" y="47878"/>
                </a:lnTo>
                <a:lnTo>
                  <a:pt x="328043" y="22314"/>
                </a:lnTo>
                <a:lnTo>
                  <a:pt x="288947" y="5837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8995" y="2497073"/>
            <a:ext cx="1822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125" dirty="0">
                <a:solidFill>
                  <a:srgbClr val="405348"/>
                </a:solidFill>
                <a:latin typeface="Book Antiqua"/>
                <a:cs typeface="Book Antiqua"/>
              </a:rPr>
              <a:t>2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729" y="2579954"/>
            <a:ext cx="9951085" cy="68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b="1" i="1" spc="-40" dirty="0">
                <a:solidFill>
                  <a:srgbClr val="405348"/>
                </a:solidFill>
                <a:latin typeface="Book Antiqua"/>
                <a:cs typeface="Book Antiqua"/>
              </a:rPr>
              <a:t>Metodología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Efiectiva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fase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análisis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generó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artefactos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completos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priorizó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requisitos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clave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(RF-</a:t>
            </a:r>
            <a:r>
              <a:rPr sz="1400" spc="-65" dirty="0">
                <a:solidFill>
                  <a:srgbClr val="405348"/>
                </a:solidFill>
                <a:latin typeface="Microsoft Sans Serif"/>
                <a:cs typeface="Microsoft Sans Serif"/>
              </a:rPr>
              <a:t>1),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aplicando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técnicas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asignatura.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6384" y="3652392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46"/>
                </a:lnTo>
                <a:lnTo>
                  <a:pt x="81061" y="22342"/>
                </a:lnTo>
                <a:lnTo>
                  <a:pt x="47937" y="47926"/>
                </a:lnTo>
                <a:lnTo>
                  <a:pt x="22345" y="81035"/>
                </a:lnTo>
                <a:lnTo>
                  <a:pt x="5846" y="120106"/>
                </a:lnTo>
                <a:lnTo>
                  <a:pt x="0" y="163576"/>
                </a:lnTo>
                <a:lnTo>
                  <a:pt x="0" y="245364"/>
                </a:lnTo>
                <a:lnTo>
                  <a:pt x="5846" y="288887"/>
                </a:lnTo>
                <a:lnTo>
                  <a:pt x="22345" y="327993"/>
                </a:lnTo>
                <a:lnTo>
                  <a:pt x="47937" y="361124"/>
                </a:lnTo>
                <a:lnTo>
                  <a:pt x="81061" y="386719"/>
                </a:lnTo>
                <a:lnTo>
                  <a:pt x="120157" y="403220"/>
                </a:lnTo>
                <a:lnTo>
                  <a:pt x="163664" y="409067"/>
                </a:lnTo>
                <a:lnTo>
                  <a:pt x="245440" y="409067"/>
                </a:lnTo>
                <a:lnTo>
                  <a:pt x="288947" y="403220"/>
                </a:lnTo>
                <a:lnTo>
                  <a:pt x="328043" y="386719"/>
                </a:lnTo>
                <a:lnTo>
                  <a:pt x="361167" y="361124"/>
                </a:lnTo>
                <a:lnTo>
                  <a:pt x="386759" y="327993"/>
                </a:lnTo>
                <a:lnTo>
                  <a:pt x="403258" y="288887"/>
                </a:lnTo>
                <a:lnTo>
                  <a:pt x="409105" y="245364"/>
                </a:lnTo>
                <a:lnTo>
                  <a:pt x="409105" y="163576"/>
                </a:lnTo>
                <a:lnTo>
                  <a:pt x="403258" y="120106"/>
                </a:lnTo>
                <a:lnTo>
                  <a:pt x="386759" y="81035"/>
                </a:lnTo>
                <a:lnTo>
                  <a:pt x="361167" y="47926"/>
                </a:lnTo>
                <a:lnTo>
                  <a:pt x="328043" y="22342"/>
                </a:lnTo>
                <a:lnTo>
                  <a:pt x="288947" y="5846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6615" y="3607434"/>
            <a:ext cx="1682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10" dirty="0">
                <a:solidFill>
                  <a:srgbClr val="405348"/>
                </a:solidFill>
                <a:latin typeface="Book Antiqua"/>
                <a:cs typeface="Book Antiqua"/>
              </a:rPr>
              <a:t>3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4729" y="3690620"/>
            <a:ext cx="8877300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Diseño</a:t>
            </a:r>
            <a:r>
              <a:rPr sz="1750" b="1" i="1" spc="-9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Robusto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Uso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UML,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arquitectura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capas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patrones</a:t>
            </a:r>
            <a:r>
              <a:rPr sz="14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(Strategy,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Factory)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un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sistema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extensible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modular.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6384" y="4762500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46"/>
                </a:lnTo>
                <a:lnTo>
                  <a:pt x="81061" y="22347"/>
                </a:lnTo>
                <a:lnTo>
                  <a:pt x="47937" y="47942"/>
                </a:lnTo>
                <a:lnTo>
                  <a:pt x="22345" y="81073"/>
                </a:lnTo>
                <a:lnTo>
                  <a:pt x="5846" y="120179"/>
                </a:lnTo>
                <a:lnTo>
                  <a:pt x="0" y="163702"/>
                </a:lnTo>
                <a:lnTo>
                  <a:pt x="0" y="245491"/>
                </a:lnTo>
                <a:lnTo>
                  <a:pt x="5846" y="288960"/>
                </a:lnTo>
                <a:lnTo>
                  <a:pt x="22345" y="328031"/>
                </a:lnTo>
                <a:lnTo>
                  <a:pt x="47937" y="361140"/>
                </a:lnTo>
                <a:lnTo>
                  <a:pt x="81061" y="386724"/>
                </a:lnTo>
                <a:lnTo>
                  <a:pt x="120157" y="403220"/>
                </a:lnTo>
                <a:lnTo>
                  <a:pt x="163664" y="409067"/>
                </a:lnTo>
                <a:lnTo>
                  <a:pt x="245440" y="409067"/>
                </a:lnTo>
                <a:lnTo>
                  <a:pt x="288947" y="403220"/>
                </a:lnTo>
                <a:lnTo>
                  <a:pt x="328043" y="386724"/>
                </a:lnTo>
                <a:lnTo>
                  <a:pt x="361167" y="361140"/>
                </a:lnTo>
                <a:lnTo>
                  <a:pt x="386759" y="328031"/>
                </a:lnTo>
                <a:lnTo>
                  <a:pt x="403258" y="288960"/>
                </a:lnTo>
                <a:lnTo>
                  <a:pt x="409105" y="245491"/>
                </a:lnTo>
                <a:lnTo>
                  <a:pt x="409105" y="163702"/>
                </a:lnTo>
                <a:lnTo>
                  <a:pt x="403258" y="120179"/>
                </a:lnTo>
                <a:lnTo>
                  <a:pt x="386759" y="81073"/>
                </a:lnTo>
                <a:lnTo>
                  <a:pt x="361167" y="47942"/>
                </a:lnTo>
                <a:lnTo>
                  <a:pt x="328043" y="22347"/>
                </a:lnTo>
                <a:lnTo>
                  <a:pt x="288947" y="5846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2043" y="4717795"/>
            <a:ext cx="1765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85" dirty="0">
                <a:solidFill>
                  <a:srgbClr val="405348"/>
                </a:solidFill>
                <a:latin typeface="Book Antiqua"/>
                <a:cs typeface="Book Antiqua"/>
              </a:rPr>
              <a:t>4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4729" y="4800980"/>
            <a:ext cx="8443595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i="1" dirty="0">
                <a:solidFill>
                  <a:srgbClr val="405348"/>
                </a:solidFill>
                <a:latin typeface="Book Antiqua"/>
                <a:cs typeface="Book Antiqua"/>
              </a:rPr>
              <a:t>Hrrramirmtas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Profirsiomafrs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spc="-50" dirty="0">
                <a:solidFill>
                  <a:srgbClr val="405348"/>
                </a:solidFill>
                <a:latin typeface="Microsoft Sans Serif"/>
                <a:cs typeface="Microsoft Sans Serif"/>
              </a:rPr>
              <a:t>VS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Code,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Docker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Git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mejoraron</a:t>
            </a:r>
            <a:r>
              <a:rPr sz="14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calidad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proceso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adquisición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competencias</a:t>
            </a:r>
            <a:r>
              <a:rPr sz="14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modernas.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6384" y="5872607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46"/>
                </a:lnTo>
                <a:lnTo>
                  <a:pt x="81061" y="22347"/>
                </a:lnTo>
                <a:lnTo>
                  <a:pt x="47937" y="47942"/>
                </a:lnTo>
                <a:lnTo>
                  <a:pt x="22345" y="81073"/>
                </a:lnTo>
                <a:lnTo>
                  <a:pt x="5846" y="120179"/>
                </a:lnTo>
                <a:lnTo>
                  <a:pt x="0" y="163703"/>
                </a:lnTo>
                <a:lnTo>
                  <a:pt x="0" y="245491"/>
                </a:lnTo>
                <a:lnTo>
                  <a:pt x="5846" y="289014"/>
                </a:lnTo>
                <a:lnTo>
                  <a:pt x="22345" y="328120"/>
                </a:lnTo>
                <a:lnTo>
                  <a:pt x="47937" y="361251"/>
                </a:lnTo>
                <a:lnTo>
                  <a:pt x="81061" y="386846"/>
                </a:lnTo>
                <a:lnTo>
                  <a:pt x="120157" y="403347"/>
                </a:lnTo>
                <a:lnTo>
                  <a:pt x="163664" y="409194"/>
                </a:lnTo>
                <a:lnTo>
                  <a:pt x="245440" y="409194"/>
                </a:lnTo>
                <a:lnTo>
                  <a:pt x="288947" y="403347"/>
                </a:lnTo>
                <a:lnTo>
                  <a:pt x="328043" y="386846"/>
                </a:lnTo>
                <a:lnTo>
                  <a:pt x="361167" y="361251"/>
                </a:lnTo>
                <a:lnTo>
                  <a:pt x="386759" y="328120"/>
                </a:lnTo>
                <a:lnTo>
                  <a:pt x="403258" y="289014"/>
                </a:lnTo>
                <a:lnTo>
                  <a:pt x="409105" y="245491"/>
                </a:lnTo>
                <a:lnTo>
                  <a:pt x="409105" y="163703"/>
                </a:lnTo>
                <a:lnTo>
                  <a:pt x="403258" y="120179"/>
                </a:lnTo>
                <a:lnTo>
                  <a:pt x="386759" y="81073"/>
                </a:lnTo>
                <a:lnTo>
                  <a:pt x="361167" y="47942"/>
                </a:lnTo>
                <a:lnTo>
                  <a:pt x="328043" y="22347"/>
                </a:lnTo>
                <a:lnTo>
                  <a:pt x="288947" y="5846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3567" y="5828157"/>
            <a:ext cx="1733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55" dirty="0">
                <a:solidFill>
                  <a:srgbClr val="405348"/>
                </a:solidFill>
                <a:latin typeface="Book Antiqua"/>
                <a:cs typeface="Book Antiqua"/>
              </a:rPr>
              <a:t>5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4729" y="5911341"/>
            <a:ext cx="8773795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i="1" spc="-35" dirty="0">
                <a:solidFill>
                  <a:srgbClr val="405348"/>
                </a:solidFill>
                <a:latin typeface="Book Antiqua"/>
                <a:cs typeface="Book Antiqua"/>
              </a:rPr>
              <a:t>Viabifidad</a:t>
            </a:r>
            <a:r>
              <a:rPr sz="1750" b="1" i="1" spc="-5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Comfiirmada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4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evaluación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económica,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humana</a:t>
            </a:r>
            <a:r>
              <a:rPr sz="14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tecnológica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validó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la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ejecución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del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5" dirty="0">
                <a:solidFill>
                  <a:srgbClr val="405348"/>
                </a:solidFill>
                <a:latin typeface="Microsoft Sans Serif"/>
                <a:cs typeface="Microsoft Sans Serif"/>
              </a:rPr>
              <a:t>proyecto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con</a:t>
            </a:r>
            <a:r>
              <a:rPr sz="1400" spc="4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recursos</a:t>
            </a:r>
            <a:r>
              <a:rPr sz="1400" spc="2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actuales.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6384" y="6982777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45440" y="0"/>
                </a:moveTo>
                <a:lnTo>
                  <a:pt x="163664" y="0"/>
                </a:lnTo>
                <a:lnTo>
                  <a:pt x="120157" y="5846"/>
                </a:lnTo>
                <a:lnTo>
                  <a:pt x="81061" y="22345"/>
                </a:lnTo>
                <a:lnTo>
                  <a:pt x="47937" y="47937"/>
                </a:lnTo>
                <a:lnTo>
                  <a:pt x="22345" y="81061"/>
                </a:lnTo>
                <a:lnTo>
                  <a:pt x="5846" y="120157"/>
                </a:lnTo>
                <a:lnTo>
                  <a:pt x="0" y="163664"/>
                </a:lnTo>
                <a:lnTo>
                  <a:pt x="0" y="245440"/>
                </a:lnTo>
                <a:lnTo>
                  <a:pt x="5846" y="288947"/>
                </a:lnTo>
                <a:lnTo>
                  <a:pt x="22345" y="328043"/>
                </a:lnTo>
                <a:lnTo>
                  <a:pt x="47937" y="361167"/>
                </a:lnTo>
                <a:lnTo>
                  <a:pt x="81061" y="386759"/>
                </a:lnTo>
                <a:lnTo>
                  <a:pt x="120157" y="403258"/>
                </a:lnTo>
                <a:lnTo>
                  <a:pt x="163664" y="409105"/>
                </a:lnTo>
                <a:lnTo>
                  <a:pt x="245440" y="409105"/>
                </a:lnTo>
                <a:lnTo>
                  <a:pt x="288947" y="403258"/>
                </a:lnTo>
                <a:lnTo>
                  <a:pt x="328043" y="386759"/>
                </a:lnTo>
                <a:lnTo>
                  <a:pt x="361167" y="361167"/>
                </a:lnTo>
                <a:lnTo>
                  <a:pt x="386759" y="328043"/>
                </a:lnTo>
                <a:lnTo>
                  <a:pt x="403258" y="288947"/>
                </a:lnTo>
                <a:lnTo>
                  <a:pt x="409105" y="245440"/>
                </a:lnTo>
                <a:lnTo>
                  <a:pt x="409105" y="163664"/>
                </a:lnTo>
                <a:lnTo>
                  <a:pt x="403258" y="120157"/>
                </a:lnTo>
                <a:lnTo>
                  <a:pt x="386759" y="81061"/>
                </a:lnTo>
                <a:lnTo>
                  <a:pt x="361167" y="47937"/>
                </a:lnTo>
                <a:lnTo>
                  <a:pt x="328043" y="22345"/>
                </a:lnTo>
                <a:lnTo>
                  <a:pt x="288947" y="5846"/>
                </a:lnTo>
                <a:lnTo>
                  <a:pt x="245440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47471" y="6938568"/>
            <a:ext cx="1835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i="1" spc="135" dirty="0">
                <a:solidFill>
                  <a:srgbClr val="405348"/>
                </a:solidFill>
                <a:latin typeface="Book Antiqua"/>
                <a:cs typeface="Book Antiqua"/>
              </a:rPr>
              <a:t>6</a:t>
            </a:r>
            <a:endParaRPr sz="2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4729" y="7021779"/>
            <a:ext cx="10901680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i="1" dirty="0">
                <a:solidFill>
                  <a:srgbClr val="405348"/>
                </a:solidFill>
                <a:latin typeface="Book Antiqua"/>
                <a:cs typeface="Book Antiqua"/>
              </a:rPr>
              <a:t>Recomendación:</a:t>
            </a:r>
            <a:r>
              <a:rPr sz="1750" b="1" i="1" spc="70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750" b="1" i="1" spc="10" dirty="0">
                <a:solidFill>
                  <a:srgbClr val="405348"/>
                </a:solidFill>
                <a:latin typeface="Book Antiqua"/>
                <a:cs typeface="Book Antiqua"/>
              </a:rPr>
              <a:t>Fortalecer</a:t>
            </a:r>
            <a:r>
              <a:rPr sz="1750" b="1" i="1" spc="85" dirty="0">
                <a:solidFill>
                  <a:srgbClr val="405348"/>
                </a:solidFill>
                <a:latin typeface="Book Antiqua"/>
                <a:cs typeface="Book Antiqua"/>
              </a:rPr>
              <a:t> </a:t>
            </a:r>
            <a:r>
              <a:rPr sz="1750" b="1" i="1" spc="-10" dirty="0">
                <a:solidFill>
                  <a:srgbClr val="405348"/>
                </a:solidFill>
                <a:latin typeface="Book Antiqua"/>
                <a:cs typeface="Book Antiqua"/>
              </a:rPr>
              <a:t>Diseño</a:t>
            </a:r>
            <a:endParaRPr sz="1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400" spc="65" dirty="0">
                <a:solidFill>
                  <a:srgbClr val="405348"/>
                </a:solidFill>
                <a:latin typeface="Microsoft Sans Serif"/>
                <a:cs typeface="Microsoft Sans Serif"/>
              </a:rPr>
              <a:t>Profundizar</a:t>
            </a:r>
            <a:r>
              <a:rPr sz="14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en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patrones</a:t>
            </a:r>
            <a:r>
              <a:rPr sz="1400" spc="-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0" dirty="0">
                <a:solidFill>
                  <a:srgbClr val="405348"/>
                </a:solidFill>
                <a:latin typeface="Microsoft Sans Serif"/>
                <a:cs typeface="Microsoft Sans Serif"/>
              </a:rPr>
              <a:t>(Repository,</a:t>
            </a:r>
            <a:r>
              <a:rPr sz="14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70" dirty="0">
                <a:solidFill>
                  <a:srgbClr val="405348"/>
                </a:solidFill>
                <a:latin typeface="Microsoft Sans Serif"/>
                <a:cs typeface="Microsoft Sans Serif"/>
              </a:rPr>
              <a:t>Adapter),</a:t>
            </a:r>
            <a:r>
              <a:rPr sz="1400" spc="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5" dirty="0">
                <a:solidFill>
                  <a:srgbClr val="405348"/>
                </a:solidFill>
                <a:latin typeface="Microsoft Sans Serif"/>
                <a:cs typeface="Microsoft Sans Serif"/>
              </a:rPr>
              <a:t>mantener</a:t>
            </a:r>
            <a:r>
              <a:rPr sz="14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trazabilidad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y</a:t>
            </a:r>
            <a:r>
              <a:rPr sz="1400" spc="2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80" dirty="0">
                <a:solidFill>
                  <a:srgbClr val="405348"/>
                </a:solidFill>
                <a:latin typeface="Microsoft Sans Serif"/>
                <a:cs typeface="Microsoft Sans Serif"/>
              </a:rPr>
              <a:t>documentar</a:t>
            </a:r>
            <a:r>
              <a:rPr sz="1400" spc="-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55" dirty="0">
                <a:solidFill>
                  <a:srgbClr val="405348"/>
                </a:solidFill>
                <a:latin typeface="Microsoft Sans Serif"/>
                <a:cs typeface="Microsoft Sans Serif"/>
              </a:rPr>
              <a:t>criterios</a:t>
            </a:r>
            <a:r>
              <a:rPr sz="1400" spc="3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de</a:t>
            </a:r>
            <a:r>
              <a:rPr sz="1400" spc="10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aceptación</a:t>
            </a:r>
            <a:r>
              <a:rPr sz="1400" spc="1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60" dirty="0">
                <a:solidFill>
                  <a:srgbClr val="405348"/>
                </a:solidFill>
                <a:latin typeface="Microsoft Sans Serif"/>
                <a:cs typeface="Microsoft Sans Serif"/>
              </a:rPr>
              <a:t>para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405348"/>
                </a:solidFill>
                <a:latin typeface="Microsoft Sans Serif"/>
                <a:cs typeface="Microsoft Sans Serif"/>
              </a:rPr>
              <a:t>cada</a:t>
            </a:r>
            <a:r>
              <a:rPr sz="1400" spc="35" dirty="0">
                <a:solidFill>
                  <a:srgbClr val="405348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405348"/>
                </a:solidFill>
                <a:latin typeface="Microsoft Sans Serif"/>
                <a:cs typeface="Microsoft Sans Serif"/>
              </a:rPr>
              <a:t>requisito.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0272" y="7628329"/>
            <a:ext cx="2540127" cy="601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1063</Words>
  <Application>Microsoft Office PowerPoint</Application>
  <PresentationFormat>Personalizado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Book Antiqua</vt:lpstr>
      <vt:lpstr>Calibri</vt:lpstr>
      <vt:lpstr>Microsoft Sans Serif</vt:lpstr>
      <vt:lpstr>Office Theme</vt:lpstr>
      <vt:lpstr>PagoSrguroAGROTAC: Transfiormando la Gestión de Pagos Agrícolas</vt:lpstr>
      <vt:lpstr>LINKS</vt:lpstr>
      <vt:lpstr>El Desafiío Actual: Gestión Mamuaf y sus Comsrcurmcias</vt:lpstr>
      <vt:lpstr>Nuestra Solución: PagoSeguroAGROTAC</vt:lpstr>
      <vt:lpstr>Impacto y Justifiicación del Proyecto</vt:lpstr>
      <vt:lpstr>Objrtivos drf Proyrcto PagoSrguroAGROTAC</vt:lpstr>
      <vt:lpstr>Afcamcr drf Sistrma PagoSrguroAGROTAC</vt:lpstr>
      <vt:lpstr>Tecnologías Clave para PagoSeguroAGROTAC</vt:lpstr>
      <vt:lpstr>Priorización de Requisitos Clave</vt:lpstr>
      <vt:lpstr>Priorización dr Rrquisitos Cfavr</vt:lpstr>
      <vt:lpstr>Viabifidad drf Proyrcto PagoSrguroAGROTAC</vt:lpstr>
      <vt:lpstr>Comcfusiomrs y Rrcomrmdaciomrs Cfavr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PagoSrguroAGROTAC: Transfiormando la Gestión de Pagos Agrícolas</dc:title>
  <dc:creator>PC-PR</dc:creator>
  <cp:lastModifiedBy>Alejandro Manangón</cp:lastModifiedBy>
  <cp:revision>2</cp:revision>
  <dcterms:created xsi:type="dcterms:W3CDTF">2025-12-18T04:05:21Z</dcterms:created>
  <dcterms:modified xsi:type="dcterms:W3CDTF">2025-12-18T10:23:41Z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2025-12-18T00:00:00Z</vt:filetime>
  </property>
  <property fmtid="{D5CDD505-2E9C-101B-9397-08002B2CF9AE}" pid="5" name="Producer">
    <vt:lpwstr>3-Heights(TM) PDF Security Shell 4.8.25.2 (http://www.pdf-tools.com)</vt:lpwstr>
  </property>
</Properties>
</file>